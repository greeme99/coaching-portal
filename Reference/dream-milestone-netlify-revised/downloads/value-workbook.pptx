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876"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51157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7" name="Text 4"/>
          <p:cNvSpPr txBox="1"/>
          <p:nvPr/>
        </p:nvSpPr>
        <p:spPr>
          <a:xfrm>
            <a:off x="502920" y="320040"/>
            <a:ext cx="11155680" cy="384048"/>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2000" b="1" dirty="0" err="1">
                <a:solidFill>
                  <a:srgbClr val="27598E"/>
                </a:solidFill>
                <a:latin typeface="맑은 고딕" pitchFamily="34" charset="0"/>
                <a:ea typeface="Malgun Gothic" pitchFamily="34" charset="-122"/>
                <a:cs typeface="Malgun Gothic" pitchFamily="34" charset="-120"/>
              </a:rPr>
              <a:t>가치</a:t>
            </a:r>
            <a:r>
              <a:rPr lang="en-US" sz="2000" b="1" dirty="0">
                <a:solidFill>
                  <a:srgbClr val="27598E"/>
                </a:solidFill>
                <a:latin typeface="맑은 고딕" pitchFamily="34" charset="0"/>
                <a:ea typeface="Malgun Gothic" pitchFamily="34" charset="-122"/>
                <a:cs typeface="Malgun Gothic" pitchFamily="34" charset="-120"/>
              </a:rPr>
              <a:t> </a:t>
            </a:r>
            <a:r>
              <a:rPr lang="en-US" sz="2000" b="1" dirty="0" err="1">
                <a:solidFill>
                  <a:srgbClr val="27598E"/>
                </a:solidFill>
                <a:latin typeface="맑은 고딕" pitchFamily="34" charset="0"/>
                <a:ea typeface="Malgun Gothic" pitchFamily="34" charset="-122"/>
                <a:cs typeface="Malgun Gothic" pitchFamily="34" charset="-120"/>
              </a:rPr>
              <a:t>찾기</a:t>
            </a:r>
            <a:r>
              <a:rPr lang="en-US" sz="2000" b="1" dirty="0">
                <a:solidFill>
                  <a:srgbClr val="27598E"/>
                </a:solidFill>
                <a:latin typeface="맑은 고딕" pitchFamily="34" charset="0"/>
                <a:ea typeface="Malgun Gothic" pitchFamily="34" charset="-122"/>
                <a:cs typeface="Malgun Gothic" pitchFamily="34" charset="-120"/>
              </a:rPr>
              <a:t>(Client </a:t>
            </a:r>
            <a:r>
              <a:rPr lang="ko-KR" altLang="en-US" sz="2000" b="1" dirty="0">
                <a:solidFill>
                  <a:srgbClr val="27598E"/>
                </a:solidFill>
                <a:latin typeface="맑은 고딕" pitchFamily="34" charset="0"/>
                <a:ea typeface="Malgun Gothic" pitchFamily="34" charset="-122"/>
                <a:cs typeface="Malgun Gothic" pitchFamily="34" charset="-120"/>
              </a:rPr>
              <a:t>용</a:t>
            </a:r>
            <a:r>
              <a:rPr lang="en-US" altLang="ko-KR" sz="2000" b="1" dirty="0">
                <a:solidFill>
                  <a:srgbClr val="27598E"/>
                </a:solidFill>
                <a:latin typeface="맑은 고딕" pitchFamily="34" charset="0"/>
                <a:ea typeface="Malgun Gothic" pitchFamily="34" charset="-122"/>
                <a:cs typeface="Malgun Gothic" pitchFamily="34" charset="-120"/>
              </a:rPr>
              <a:t>)</a:t>
            </a:r>
            <a:endParaRPr lang="en-US" sz="1800" dirty="0"/>
          </a:p>
        </p:txBody>
      </p:sp>
      <p:sp>
        <p:nvSpPr>
          <p:cNvPr id="8" name="Shape 5"/>
          <p:cNvSpPr/>
          <p:nvPr/>
        </p:nvSpPr>
        <p:spPr>
          <a:xfrm>
            <a:off x="502920" y="786384"/>
            <a:ext cx="11155680" cy="0"/>
          </a:xfrm>
          <a:prstGeom prst="line">
            <a:avLst/>
          </a:prstGeom>
          <a:noFill/>
          <a:ln w="15875">
            <a:solidFill>
              <a:srgbClr val="254AA5"/>
            </a:solidFill>
            <a:prstDash val="solid"/>
          </a:ln>
        </p:spPr>
      </p:sp>
      <p:sp>
        <p:nvSpPr>
          <p:cNvPr id="9" name="Shape 6"/>
          <p:cNvSpPr/>
          <p:nvPr/>
        </p:nvSpPr>
        <p:spPr>
          <a:xfrm>
            <a:off x="502920" y="877824"/>
            <a:ext cx="1362456" cy="292608"/>
          </a:xfrm>
          <a:prstGeom prst="roundRect">
            <a:avLst>
              <a:gd name="adj" fmla="val 50000"/>
            </a:avLst>
          </a:prstGeom>
          <a:solidFill>
            <a:srgbClr val="80CCEC"/>
          </a:solidFill>
          <a:ln/>
        </p:spPr>
      </p:sp>
      <p:sp>
        <p:nvSpPr>
          <p:cNvPr id="10" name="Text 7"/>
          <p:cNvSpPr txBox="1"/>
          <p:nvPr/>
        </p:nvSpPr>
        <p:spPr>
          <a:xfrm>
            <a:off x="398145" y="850392"/>
            <a:ext cx="1828800" cy="292608"/>
          </a:xfrm>
          <a:prstGeom prst="rect">
            <a:avLst/>
          </a:prstGeom>
          <a:noFill/>
          <a:ln/>
        </p:spPr>
        <p:txBody>
          <a:bodyPr wrap="square" lIns="18288" tIns="9144" rIns="18288" bIns="9144" rtlCol="0" anchor="ctr">
            <a:noAutofit/>
          </a:bodyPr>
          <a:lstStyle/>
          <a:p>
            <a:pPr marL="0" indent="0" algn="ctr">
              <a:lnSpc>
                <a:spcPct val="100000"/>
              </a:lnSpc>
              <a:spcBef>
                <a:spcPts val="0"/>
              </a:spcBef>
              <a:spcAft>
                <a:spcPts val="0"/>
              </a:spcAft>
              <a:buNone/>
            </a:pPr>
            <a:r>
              <a:rPr lang="en-US" sz="1250" b="1" dirty="0">
                <a:solidFill>
                  <a:srgbClr val="27598E"/>
                </a:solidFill>
                <a:latin typeface="맑은 고딕" pitchFamily="34" charset="0"/>
                <a:ea typeface="Malgun Gothic" pitchFamily="34" charset="-122"/>
                <a:cs typeface="Malgun Gothic" pitchFamily="34" charset="-120"/>
              </a:rPr>
              <a:t>가치 리스트</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3893638038"/>
              </p:ext>
            </p:extLst>
          </p:nvPr>
        </p:nvGraphicFramePr>
        <p:xfrm>
          <a:off x="502920" y="1115568"/>
          <a:ext cx="11155680" cy="1920240"/>
        </p:xfrm>
        <a:graphic>
          <a:graphicData uri="http://schemas.openxmlformats.org/drawingml/2006/table">
            <a:tbl>
              <a:tblPr/>
              <a:tblGrid>
                <a:gridCol w="1115568">
                  <a:extLst>
                    <a:ext uri="{9D8B030D-6E8A-4147-A177-3AD203B41FA5}">
                      <a16:colId xmlns:a16="http://schemas.microsoft.com/office/drawing/2014/main" val="20000"/>
                    </a:ext>
                  </a:extLst>
                </a:gridCol>
                <a:gridCol w="1115568">
                  <a:extLst>
                    <a:ext uri="{9D8B030D-6E8A-4147-A177-3AD203B41FA5}">
                      <a16:colId xmlns:a16="http://schemas.microsoft.com/office/drawing/2014/main" val="20001"/>
                    </a:ext>
                  </a:extLst>
                </a:gridCol>
                <a:gridCol w="1115568">
                  <a:extLst>
                    <a:ext uri="{9D8B030D-6E8A-4147-A177-3AD203B41FA5}">
                      <a16:colId xmlns:a16="http://schemas.microsoft.com/office/drawing/2014/main" val="20002"/>
                    </a:ext>
                  </a:extLst>
                </a:gridCol>
                <a:gridCol w="1115568">
                  <a:extLst>
                    <a:ext uri="{9D8B030D-6E8A-4147-A177-3AD203B41FA5}">
                      <a16:colId xmlns:a16="http://schemas.microsoft.com/office/drawing/2014/main" val="20003"/>
                    </a:ext>
                  </a:extLst>
                </a:gridCol>
                <a:gridCol w="1115568">
                  <a:extLst>
                    <a:ext uri="{9D8B030D-6E8A-4147-A177-3AD203B41FA5}">
                      <a16:colId xmlns:a16="http://schemas.microsoft.com/office/drawing/2014/main" val="20004"/>
                    </a:ext>
                  </a:extLst>
                </a:gridCol>
                <a:gridCol w="1115568">
                  <a:extLst>
                    <a:ext uri="{9D8B030D-6E8A-4147-A177-3AD203B41FA5}">
                      <a16:colId xmlns:a16="http://schemas.microsoft.com/office/drawing/2014/main" val="20005"/>
                    </a:ext>
                  </a:extLst>
                </a:gridCol>
                <a:gridCol w="1115568">
                  <a:extLst>
                    <a:ext uri="{9D8B030D-6E8A-4147-A177-3AD203B41FA5}">
                      <a16:colId xmlns:a16="http://schemas.microsoft.com/office/drawing/2014/main" val="20006"/>
                    </a:ext>
                  </a:extLst>
                </a:gridCol>
                <a:gridCol w="1115568">
                  <a:extLst>
                    <a:ext uri="{9D8B030D-6E8A-4147-A177-3AD203B41FA5}">
                      <a16:colId xmlns:a16="http://schemas.microsoft.com/office/drawing/2014/main" val="20007"/>
                    </a:ext>
                  </a:extLst>
                </a:gridCol>
                <a:gridCol w="1115568">
                  <a:extLst>
                    <a:ext uri="{9D8B030D-6E8A-4147-A177-3AD203B41FA5}">
                      <a16:colId xmlns:a16="http://schemas.microsoft.com/office/drawing/2014/main" val="20008"/>
                    </a:ext>
                  </a:extLst>
                </a:gridCol>
                <a:gridCol w="1115568">
                  <a:extLst>
                    <a:ext uri="{9D8B030D-6E8A-4147-A177-3AD203B41FA5}">
                      <a16:colId xmlns:a16="http://schemas.microsoft.com/office/drawing/2014/main" val="20009"/>
                    </a:ext>
                  </a:extLst>
                </a:gridCol>
              </a:tblGrid>
              <a:tr h="192024">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가족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감사</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건강</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결단</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경제적 안정</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공헌</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관계</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관대함</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권력</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교육</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92024">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균형</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긍정적 태도</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끈기</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기술</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나눔</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다양성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단순성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도덕성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도전</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독창성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2024">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리더십</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명성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모험</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미래</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발전</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법과 질서</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배려</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봉사</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부유함</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성공</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92024">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성실</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성장</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승리</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신념</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신뢰</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신앙</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아름다움</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안정</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애국심</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애정</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2024">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여유</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열정</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완벽</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완성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열린 마음</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영성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영향력</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용기</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용서</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외모</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92024">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우정</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유머</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윤리</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겸손</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의지력</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인내</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인정</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자발성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자비</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자유</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2024">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자율성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적극성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전문성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전통과 유산</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절약</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절제</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정서적 안정</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정의</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정직</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조건없는 사랑</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92024">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존경</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존중</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즐거운 삶</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직업적 성취</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사회적 지위</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기여</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친밀감</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진실성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지식</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지혜</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92024">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창의</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충성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탁월성</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팀워크</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쾌활함</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품질</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평화</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프로정신</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충실</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책임</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92024">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학습</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혁신</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조화</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호기심</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환경</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graphicFrame>
        <p:nvGraphicFramePr>
          <p:cNvPr id="12" name="Table 1"/>
          <p:cNvGraphicFramePr>
            <a:graphicFrameLocks noGrp="1"/>
          </p:cNvGraphicFramePr>
          <p:nvPr>
            <p:extLst>
              <p:ext uri="{D42A27DB-BD31-4B8C-83A1-F6EECF244321}">
                <p14:modId xmlns:p14="http://schemas.microsoft.com/office/powerpoint/2010/main" val="2997326343"/>
              </p:ext>
            </p:extLst>
          </p:nvPr>
        </p:nvGraphicFramePr>
        <p:xfrm>
          <a:off x="502920" y="3182112"/>
          <a:ext cx="11155680" cy="3491319"/>
        </p:xfrm>
        <a:graphic>
          <a:graphicData uri="http://schemas.openxmlformats.org/drawingml/2006/table">
            <a:tbl>
              <a:tblPr/>
              <a:tblGrid>
                <a:gridCol w="914400">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gridCol w="1024128">
                  <a:extLst>
                    <a:ext uri="{9D8B030D-6E8A-4147-A177-3AD203B41FA5}">
                      <a16:colId xmlns:a16="http://schemas.microsoft.com/office/drawing/2014/main" val="20003"/>
                    </a:ext>
                  </a:extLst>
                </a:gridCol>
                <a:gridCol w="1024128">
                  <a:extLst>
                    <a:ext uri="{9D8B030D-6E8A-4147-A177-3AD203B41FA5}">
                      <a16:colId xmlns:a16="http://schemas.microsoft.com/office/drawing/2014/main" val="20004"/>
                    </a:ext>
                  </a:extLst>
                </a:gridCol>
                <a:gridCol w="1024128">
                  <a:extLst>
                    <a:ext uri="{9D8B030D-6E8A-4147-A177-3AD203B41FA5}">
                      <a16:colId xmlns:a16="http://schemas.microsoft.com/office/drawing/2014/main" val="20005"/>
                    </a:ext>
                  </a:extLst>
                </a:gridCol>
                <a:gridCol w="1024128">
                  <a:extLst>
                    <a:ext uri="{9D8B030D-6E8A-4147-A177-3AD203B41FA5}">
                      <a16:colId xmlns:a16="http://schemas.microsoft.com/office/drawing/2014/main" val="20006"/>
                    </a:ext>
                  </a:extLst>
                </a:gridCol>
                <a:gridCol w="1024128">
                  <a:extLst>
                    <a:ext uri="{9D8B030D-6E8A-4147-A177-3AD203B41FA5}">
                      <a16:colId xmlns:a16="http://schemas.microsoft.com/office/drawing/2014/main" val="20007"/>
                    </a:ext>
                  </a:extLst>
                </a:gridCol>
                <a:gridCol w="1024128">
                  <a:extLst>
                    <a:ext uri="{9D8B030D-6E8A-4147-A177-3AD203B41FA5}">
                      <a16:colId xmlns:a16="http://schemas.microsoft.com/office/drawing/2014/main" val="20008"/>
                    </a:ext>
                  </a:extLst>
                </a:gridCol>
                <a:gridCol w="1024128">
                  <a:extLst>
                    <a:ext uri="{9D8B030D-6E8A-4147-A177-3AD203B41FA5}">
                      <a16:colId xmlns:a16="http://schemas.microsoft.com/office/drawing/2014/main" val="20009"/>
                    </a:ext>
                  </a:extLst>
                </a:gridCol>
                <a:gridCol w="1024128">
                  <a:extLst>
                    <a:ext uri="{9D8B030D-6E8A-4147-A177-3AD203B41FA5}">
                      <a16:colId xmlns:a16="http://schemas.microsoft.com/office/drawing/2014/main" val="20010"/>
                    </a:ext>
                  </a:extLst>
                </a:gridCol>
              </a:tblGrid>
              <a:tr h="227050">
                <a:tc rowSpan="2">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가치</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1</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2</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3</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4</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5</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6</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7</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8</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9</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10</a:t>
                      </a:r>
                      <a:endParaRPr lang="en-US" sz="10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5DB0E5"/>
                    </a:solidFill>
                  </a:tcPr>
                </a:tc>
                <a:extLst>
                  <a:ext uri="{0D108BD9-81ED-4DB2-BD59-A6C34878D82A}">
                    <a16:rowId xmlns:a16="http://schemas.microsoft.com/office/drawing/2014/main" val="10000"/>
                  </a:ext>
                </a:extLst>
              </a:tr>
              <a:tr h="309017">
                <a:tc vMerge="1">
                  <a:txBody>
                    <a:bodyPr/>
                    <a:lstStyle/>
                    <a:p>
                      <a:pPr algn="ctr">
                        <a:lnSpc>
                          <a:spcPct val="95000"/>
                        </a:lnSpc>
                        <a:spcBef>
                          <a:spcPts val="0"/>
                        </a:spcBef>
                        <a:spcAft>
                          <a:spcPts val="0"/>
                        </a:spcAft>
                      </a:pPr>
                      <a:endParaRPr lang="ko-KR"/>
                    </a:p>
                  </a:txBody>
                  <a:tcPr marL="22860" marR="22860" marT="10972" marB="10972" anchor="ctr"/>
                </a:tc>
                <a:tc>
                  <a:txBody>
                    <a:bodyPr/>
                    <a:lstStyle/>
                    <a:p>
                      <a:pPr marL="0" indent="0" algn="ctr">
                        <a:lnSpc>
                          <a:spcPct val="95000"/>
                        </a:lnSpc>
                        <a:spcBef>
                          <a:spcPts val="0"/>
                        </a:spcBef>
                        <a:spcAft>
                          <a:spcPts val="0"/>
                        </a:spcAft>
                        <a:buNone/>
                      </a:pPr>
                      <a:endParaRPr lang="en-US" sz="9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9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9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9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9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9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9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9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9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90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extLst>
                  <a:ext uri="{0D108BD9-81ED-4DB2-BD59-A6C34878D82A}">
                    <a16:rowId xmlns:a16="http://schemas.microsoft.com/office/drawing/2014/main" val="10001"/>
                  </a:ext>
                </a:extLst>
              </a:tr>
              <a:tr h="246271">
                <a:tc>
                  <a:txBody>
                    <a:bodyPr/>
                    <a:lstStyle/>
                    <a:p>
                      <a:pPr marL="0" indent="0" algn="ctr">
                        <a:lnSpc>
                          <a:spcPct val="95000"/>
                        </a:lnSpc>
                        <a:spcBef>
                          <a:spcPts val="0"/>
                        </a:spcBef>
                        <a:spcAft>
                          <a:spcPts val="0"/>
                        </a:spcAft>
                        <a:buNone/>
                      </a:pP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2"/>
                  </a:ext>
                </a:extLst>
              </a:tr>
              <a:tr h="246271">
                <a:tc>
                  <a:txBody>
                    <a:bodyPr/>
                    <a:lstStyle/>
                    <a:p>
                      <a:pPr marL="0" indent="0" algn="ctr">
                        <a:lnSpc>
                          <a:spcPct val="95000"/>
                        </a:lnSpc>
                        <a:spcBef>
                          <a:spcPts val="0"/>
                        </a:spcBef>
                        <a:spcAft>
                          <a:spcPts val="0"/>
                        </a:spcAft>
                        <a:buNone/>
                      </a:pP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3"/>
                  </a:ext>
                </a:extLst>
              </a:tr>
              <a:tr h="246271">
                <a:tc>
                  <a:txBody>
                    <a:bodyPr/>
                    <a:lstStyle/>
                    <a:p>
                      <a:pPr marL="0" indent="0" algn="ctr">
                        <a:lnSpc>
                          <a:spcPct val="95000"/>
                        </a:lnSpc>
                        <a:spcBef>
                          <a:spcPts val="0"/>
                        </a:spcBef>
                        <a:spcAft>
                          <a:spcPts val="0"/>
                        </a:spcAft>
                        <a:buNone/>
                      </a:pP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4"/>
                  </a:ext>
                </a:extLst>
              </a:tr>
              <a:tr h="246271">
                <a:tc>
                  <a:txBody>
                    <a:bodyPr/>
                    <a:lstStyle/>
                    <a:p>
                      <a:pPr marL="0" indent="0" algn="ctr">
                        <a:lnSpc>
                          <a:spcPct val="95000"/>
                        </a:lnSpc>
                        <a:spcBef>
                          <a:spcPts val="0"/>
                        </a:spcBef>
                        <a:spcAft>
                          <a:spcPts val="0"/>
                        </a:spcAft>
                        <a:buNone/>
                      </a:pP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5"/>
                  </a:ext>
                </a:extLst>
              </a:tr>
              <a:tr h="246271">
                <a:tc>
                  <a:txBody>
                    <a:bodyPr/>
                    <a:lstStyle/>
                    <a:p>
                      <a:pPr marL="0" indent="0" algn="ctr">
                        <a:lnSpc>
                          <a:spcPct val="95000"/>
                        </a:lnSpc>
                        <a:spcBef>
                          <a:spcPts val="0"/>
                        </a:spcBef>
                        <a:spcAft>
                          <a:spcPts val="0"/>
                        </a:spcAft>
                        <a:buNone/>
                      </a:pP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6"/>
                  </a:ext>
                </a:extLst>
              </a:tr>
              <a:tr h="246271">
                <a:tc>
                  <a:txBody>
                    <a:bodyPr/>
                    <a:lstStyle/>
                    <a:p>
                      <a:pPr marL="0" indent="0" algn="ctr">
                        <a:lnSpc>
                          <a:spcPct val="95000"/>
                        </a:lnSpc>
                        <a:spcBef>
                          <a:spcPts val="0"/>
                        </a:spcBef>
                        <a:spcAft>
                          <a:spcPts val="0"/>
                        </a:spcAft>
                        <a:buNone/>
                      </a:pP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7"/>
                  </a:ext>
                </a:extLst>
              </a:tr>
              <a:tr h="246271">
                <a:tc>
                  <a:txBody>
                    <a:bodyPr/>
                    <a:lstStyle/>
                    <a:p>
                      <a:pPr marL="0" indent="0" algn="ctr">
                        <a:lnSpc>
                          <a:spcPct val="95000"/>
                        </a:lnSpc>
                        <a:spcBef>
                          <a:spcPts val="0"/>
                        </a:spcBef>
                        <a:spcAft>
                          <a:spcPts val="0"/>
                        </a:spcAft>
                        <a:buNone/>
                      </a:pP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8"/>
                  </a:ext>
                </a:extLst>
              </a:tr>
              <a:tr h="246271">
                <a:tc>
                  <a:txBody>
                    <a:bodyPr/>
                    <a:lstStyle/>
                    <a:p>
                      <a:pPr marL="0" indent="0" algn="ctr">
                        <a:lnSpc>
                          <a:spcPct val="95000"/>
                        </a:lnSpc>
                        <a:spcBef>
                          <a:spcPts val="0"/>
                        </a:spcBef>
                        <a:spcAft>
                          <a:spcPts val="0"/>
                        </a:spcAft>
                        <a:buNone/>
                      </a:pP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9"/>
                  </a:ext>
                </a:extLst>
              </a:tr>
              <a:tr h="246271">
                <a:tc>
                  <a:txBody>
                    <a:bodyPr/>
                    <a:lstStyle/>
                    <a:p>
                      <a:pPr marL="0" indent="0" algn="ctr">
                        <a:lnSpc>
                          <a:spcPct val="95000"/>
                        </a:lnSpc>
                        <a:spcBef>
                          <a:spcPts val="0"/>
                        </a:spcBef>
                        <a:spcAft>
                          <a:spcPts val="0"/>
                        </a:spcAft>
                        <a:buNone/>
                      </a:pP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10"/>
                  </a:ext>
                </a:extLst>
              </a:tr>
              <a:tr h="246271">
                <a:tc>
                  <a:txBody>
                    <a:bodyPr/>
                    <a:lstStyle/>
                    <a:p>
                      <a:pPr marL="0" indent="0" algn="ctr">
                        <a:lnSpc>
                          <a:spcPct val="95000"/>
                        </a:lnSpc>
                        <a:spcBef>
                          <a:spcPts val="0"/>
                        </a:spcBef>
                        <a:spcAft>
                          <a:spcPts val="0"/>
                        </a:spcAft>
                        <a:buNone/>
                      </a:pP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11"/>
                  </a:ext>
                </a:extLst>
              </a:tr>
              <a:tr h="246271">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extLst>
                  <a:ext uri="{0D108BD9-81ED-4DB2-BD59-A6C34878D82A}">
                    <a16:rowId xmlns:a16="http://schemas.microsoft.com/office/drawing/2014/main" val="10012"/>
                  </a:ext>
                </a:extLst>
              </a:tr>
              <a:tr h="246271">
                <a:tc>
                  <a:txBody>
                    <a:bodyPr/>
                    <a:lstStyle/>
                    <a:p>
                      <a:pPr marL="0" indent="0" algn="ctr">
                        <a:lnSpc>
                          <a:spcPct val="95000"/>
                        </a:lnSpc>
                        <a:spcBef>
                          <a:spcPts val="0"/>
                        </a:spcBef>
                        <a:spcAft>
                          <a:spcPts val="0"/>
                        </a:spcAft>
                        <a:buNone/>
                      </a:pPr>
                      <a:r>
                        <a:rPr lang="en-US" sz="900" b="0" dirty="0">
                          <a:solidFill>
                            <a:srgbClr val="28303A"/>
                          </a:solidFill>
                          <a:latin typeface="맑은 고딕" pitchFamily="34" charset="0"/>
                          <a:ea typeface="Malgun Gothic" pitchFamily="34" charset="-122"/>
                          <a:cs typeface="Malgun Gothic" pitchFamily="34" charset="-120"/>
                        </a:rPr>
                        <a:t>순위</a:t>
                      </a:r>
                      <a:endParaRPr lang="en-US" sz="950" dirty="0">
                        <a:latin typeface="Malgun Gothic" charset="0"/>
                        <a:ea typeface="Malgun Gothic" charset="0"/>
                        <a:cs typeface="Malgun Gothic" charset="0"/>
                      </a:endParaRPr>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5000"/>
                        </a:lnSpc>
                        <a:spcBef>
                          <a:spcPts val="0"/>
                        </a:spcBef>
                        <a:spcAft>
                          <a:spcPts val="0"/>
                        </a:spcAft>
                        <a:buNone/>
                      </a:pPr>
                      <a:endParaRPr lang="en-US" sz="1200" dirty="0"/>
                    </a:p>
                  </a:txBody>
                  <a:tcPr marL="22860" marR="22860" marT="10972" marB="10972" anchor="ctr">
                    <a:lnL w="9525" cap="flat" cmpd="sng" algn="ctr">
                      <a:solidFill>
                        <a:srgbClr val="BFDFF6"/>
                      </a:solidFill>
                      <a:prstDash val="solid"/>
                      <a:round/>
                      <a:headEnd type="none" w="med" len="med"/>
                      <a:tailEnd type="none" w="med" len="med"/>
                    </a:lnL>
                    <a:lnR w="9525" cap="flat" cmpd="sng" algn="ctr">
                      <a:solidFill>
                        <a:srgbClr val="BFDFF6"/>
                      </a:solidFill>
                      <a:prstDash val="solid"/>
                      <a:round/>
                      <a:headEnd type="none" w="med" len="med"/>
                      <a:tailEnd type="none" w="med" len="med"/>
                    </a:lnR>
                    <a:lnT w="9525" cap="flat" cmpd="sng" algn="ctr">
                      <a:solidFill>
                        <a:srgbClr val="BFDFF6"/>
                      </a:solidFill>
                      <a:prstDash val="solid"/>
                      <a:round/>
                      <a:headEnd type="none" w="med" len="med"/>
                      <a:tailEnd type="none" w="med" len="med"/>
                    </a:lnT>
                    <a:lnB w="9525" cap="flat" cmpd="sng" algn="ctr">
                      <a:solidFill>
                        <a:srgbClr val="BFDFF6"/>
                      </a:solidFill>
                      <a:prstDash val="solid"/>
                      <a:round/>
                      <a:headEnd type="none" w="med" len="med"/>
                      <a:tailEnd type="none" w="med" len="med"/>
                    </a:lnB>
                    <a:solidFill>
                      <a:srgbClr val="FCD8CB"/>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4"/>
          <p:cNvSpPr txBox="1"/>
          <p:nvPr/>
        </p:nvSpPr>
        <p:spPr>
          <a:xfrm>
            <a:off x="457200" y="256032"/>
            <a:ext cx="11201400" cy="384048"/>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650" b="1" dirty="0">
                <a:solidFill>
                  <a:srgbClr val="27598E"/>
                </a:solidFill>
                <a:latin typeface="맑은 고딕" pitchFamily="34" charset="0"/>
                <a:ea typeface="Malgun Gothic" pitchFamily="34" charset="-122"/>
                <a:cs typeface="Malgun Gothic" pitchFamily="34" charset="-120"/>
              </a:rPr>
              <a:t>오늘의 </a:t>
            </a:r>
            <a:r>
              <a:rPr lang="en-US" sz="1650" b="1" dirty="0" err="1">
                <a:solidFill>
                  <a:srgbClr val="27598E"/>
                </a:solidFill>
                <a:latin typeface="맑은 고딕" pitchFamily="34" charset="0"/>
                <a:ea typeface="Malgun Gothic" pitchFamily="34" charset="-122"/>
                <a:cs typeface="Malgun Gothic" pitchFamily="34" charset="-120"/>
              </a:rPr>
              <a:t>주제</a:t>
            </a:r>
            <a:r>
              <a:rPr lang="en-US" sz="1650" b="1" dirty="0">
                <a:solidFill>
                  <a:srgbClr val="27598E"/>
                </a:solidFill>
                <a:latin typeface="맑은 고딕" pitchFamily="34" charset="0"/>
                <a:ea typeface="Malgun Gothic" pitchFamily="34" charset="-122"/>
                <a:cs typeface="Malgun Gothic" pitchFamily="34" charset="-120"/>
              </a:rPr>
              <a:t>  / </a:t>
            </a:r>
            <a:r>
              <a:rPr lang="en-US" sz="1650" b="1" dirty="0" err="1">
                <a:solidFill>
                  <a:srgbClr val="27598E"/>
                </a:solidFill>
                <a:latin typeface="맑은 고딕" pitchFamily="34" charset="0"/>
                <a:ea typeface="Malgun Gothic" pitchFamily="34" charset="-122"/>
                <a:cs typeface="Malgun Gothic" pitchFamily="34" charset="-120"/>
              </a:rPr>
              <a:t>가치</a:t>
            </a:r>
            <a:r>
              <a:rPr lang="en-US" sz="1650" b="1" dirty="0">
                <a:solidFill>
                  <a:srgbClr val="27598E"/>
                </a:solidFill>
                <a:latin typeface="맑은 고딕" pitchFamily="34" charset="0"/>
                <a:ea typeface="Malgun Gothic" pitchFamily="34" charset="-122"/>
                <a:cs typeface="Malgun Gothic" pitchFamily="34" charset="-120"/>
              </a:rPr>
              <a:t> </a:t>
            </a:r>
            <a:r>
              <a:rPr lang="en-US" sz="1650" b="1" dirty="0" err="1">
                <a:solidFill>
                  <a:srgbClr val="27598E"/>
                </a:solidFill>
                <a:latin typeface="맑은 고딕" pitchFamily="34" charset="0"/>
                <a:ea typeface="Malgun Gothic" pitchFamily="34" charset="-122"/>
                <a:cs typeface="Malgun Gothic" pitchFamily="34" charset="-120"/>
              </a:rPr>
              <a:t>찾기</a:t>
            </a:r>
            <a:r>
              <a:rPr lang="en-US" sz="1650" b="1" dirty="0">
                <a:solidFill>
                  <a:srgbClr val="27598E"/>
                </a:solidFill>
                <a:latin typeface="맑은 고딕" pitchFamily="34" charset="0"/>
                <a:ea typeface="Malgun Gothic" pitchFamily="34" charset="-122"/>
                <a:cs typeface="Malgun Gothic" pitchFamily="34" charset="-120"/>
              </a:rPr>
              <a:t> (Coach </a:t>
            </a:r>
            <a:r>
              <a:rPr lang="ko-KR" altLang="en-US" sz="1650" b="1" dirty="0">
                <a:solidFill>
                  <a:srgbClr val="27598E"/>
                </a:solidFill>
                <a:latin typeface="맑은 고딕" pitchFamily="34" charset="0"/>
                <a:ea typeface="Malgun Gothic" pitchFamily="34" charset="-122"/>
                <a:cs typeface="Malgun Gothic" pitchFamily="34" charset="-120"/>
              </a:rPr>
              <a:t>용</a:t>
            </a:r>
            <a:r>
              <a:rPr lang="en-US" sz="1650" b="1" dirty="0">
                <a:solidFill>
                  <a:srgbClr val="27598E"/>
                </a:solidFill>
                <a:latin typeface="맑은 고딕" pitchFamily="34" charset="0"/>
                <a:ea typeface="Malgun Gothic" pitchFamily="34" charset="-122"/>
                <a:cs typeface="Malgun Gothic" pitchFamily="34" charset="-120"/>
              </a:rPr>
              <a:t>)</a:t>
            </a:r>
            <a:endParaRPr lang="en-US" sz="1500" dirty="0"/>
          </a:p>
        </p:txBody>
      </p:sp>
      <p:sp>
        <p:nvSpPr>
          <p:cNvPr id="8" name="Shape 5"/>
          <p:cNvSpPr/>
          <p:nvPr/>
        </p:nvSpPr>
        <p:spPr>
          <a:xfrm>
            <a:off x="457200" y="720979"/>
            <a:ext cx="5394960" cy="0"/>
          </a:xfrm>
          <a:prstGeom prst="line">
            <a:avLst/>
          </a:prstGeom>
          <a:noFill/>
          <a:ln w="12700">
            <a:solidFill>
              <a:srgbClr val="6386CC"/>
            </a:solidFill>
            <a:prstDash val="solid"/>
          </a:ln>
        </p:spPr>
      </p:sp>
      <p:sp>
        <p:nvSpPr>
          <p:cNvPr id="10" name="Text 7"/>
          <p:cNvSpPr txBox="1"/>
          <p:nvPr/>
        </p:nvSpPr>
        <p:spPr>
          <a:xfrm>
            <a:off x="457200" y="1188720"/>
            <a:ext cx="5669280" cy="365760"/>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750" b="1" dirty="0">
                <a:solidFill>
                  <a:srgbClr val="27598E"/>
                </a:solidFill>
                <a:latin typeface="맑은 고딕" pitchFamily="34" charset="0"/>
                <a:ea typeface="Malgun Gothic" pitchFamily="34" charset="-122"/>
                <a:cs typeface="Malgun Gothic" pitchFamily="34" charset="-120"/>
              </a:rPr>
              <a:t>1. 상호인사 및 라포</a:t>
            </a:r>
            <a:endParaRPr lang="en-US" sz="1700" dirty="0"/>
          </a:p>
        </p:txBody>
      </p:sp>
      <p:sp>
        <p:nvSpPr>
          <p:cNvPr id="11" name="Text 8"/>
          <p:cNvSpPr txBox="1"/>
          <p:nvPr/>
        </p:nvSpPr>
        <p:spPr>
          <a:xfrm>
            <a:off x="457200" y="1718056"/>
            <a:ext cx="1124712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(질문) 오늘 이렇게 또 만나게 되었어요. 오늘 컨디션은 좀 어떠세요?</a:t>
            </a:r>
            <a:endParaRPr lang="en-US" sz="1050" dirty="0"/>
          </a:p>
        </p:txBody>
      </p:sp>
      <p:sp>
        <p:nvSpPr>
          <p:cNvPr id="12" name="Text 9"/>
          <p:cNvSpPr txBox="1"/>
          <p:nvPr/>
        </p:nvSpPr>
        <p:spPr>
          <a:xfrm>
            <a:off x="457200" y="1923796"/>
            <a:ext cx="1124712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(질문) 지난 한주 동안 가장 기쁘고 활기찼던 일에는 어떤 것이 있었나요?</a:t>
            </a:r>
            <a:endParaRPr lang="en-US" sz="1050" dirty="0"/>
          </a:p>
        </p:txBody>
      </p:sp>
      <p:sp>
        <p:nvSpPr>
          <p:cNvPr id="13" name="Text 10"/>
          <p:cNvSpPr txBox="1"/>
          <p:nvPr/>
        </p:nvSpPr>
        <p:spPr>
          <a:xfrm>
            <a:off x="457200" y="2129536"/>
            <a:ext cx="1124712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(질문) 지난번 코칭에서 어떤 것을 실천해 보기로 했었죠?</a:t>
            </a:r>
            <a:endParaRPr lang="en-US" sz="1050" dirty="0"/>
          </a:p>
        </p:txBody>
      </p:sp>
      <p:sp>
        <p:nvSpPr>
          <p:cNvPr id="14" name="Text 11"/>
          <p:cNvSpPr txBox="1"/>
          <p:nvPr/>
        </p:nvSpPr>
        <p:spPr>
          <a:xfrm>
            <a:off x="713232" y="2335276"/>
            <a:ext cx="1097280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실천하면서 어떤 결과가 있었나요? 어떤 어려움이 있었나요?</a:t>
            </a:r>
            <a:endParaRPr lang="en-US" sz="1050" dirty="0"/>
          </a:p>
        </p:txBody>
      </p:sp>
      <p:sp>
        <p:nvSpPr>
          <p:cNvPr id="15" name="Text 12"/>
          <p:cNvSpPr txBox="1"/>
          <p:nvPr/>
        </p:nvSpPr>
        <p:spPr>
          <a:xfrm>
            <a:off x="457200" y="2541016"/>
            <a:ext cx="1124712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(질문) 실천을 통해서 어떤 것을 알게 되었나요?</a:t>
            </a:r>
            <a:endParaRPr lang="en-US" sz="1050" dirty="0"/>
          </a:p>
        </p:txBody>
      </p:sp>
      <p:sp>
        <p:nvSpPr>
          <p:cNvPr id="16" name="Text 13"/>
          <p:cNvSpPr txBox="1"/>
          <p:nvPr/>
        </p:nvSpPr>
        <p:spPr>
          <a:xfrm>
            <a:off x="457200" y="2746756"/>
            <a:ext cx="1124712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(질문) 지금까지 저와 코칭을 하면서 OO님 일상에는 어떤 변화가 있었는지 궁금해요?</a:t>
            </a:r>
            <a:endParaRPr lang="en-US" sz="1050" dirty="0"/>
          </a:p>
        </p:txBody>
      </p:sp>
      <p:sp>
        <p:nvSpPr>
          <p:cNvPr id="17" name="Text 14"/>
          <p:cNvSpPr txBox="1"/>
          <p:nvPr/>
        </p:nvSpPr>
        <p:spPr>
          <a:xfrm>
            <a:off x="713232" y="2952496"/>
            <a:ext cx="1097280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 있다면 : 변화한 것에 대해 좀더 물어봐 주세요. 그런 변화를 경험해 보니 어떤 생각이 들어요?</a:t>
            </a:r>
            <a:endParaRPr lang="en-US" sz="1050" dirty="0"/>
          </a:p>
        </p:txBody>
      </p:sp>
      <p:sp>
        <p:nvSpPr>
          <p:cNvPr id="18" name="Text 15"/>
          <p:cNvSpPr txBox="1"/>
          <p:nvPr/>
        </p:nvSpPr>
        <p:spPr>
          <a:xfrm>
            <a:off x="713232" y="3158236"/>
            <a:ext cx="1097280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(인정) 변화 경험한 것과 그런 생각을 응원 지지합니다.</a:t>
            </a:r>
            <a:endParaRPr lang="en-US" sz="1050" dirty="0"/>
          </a:p>
        </p:txBody>
      </p:sp>
      <p:sp>
        <p:nvSpPr>
          <p:cNvPr id="19" name="Text 16"/>
          <p:cNvSpPr txBox="1"/>
          <p:nvPr/>
        </p:nvSpPr>
        <p:spPr>
          <a:xfrm>
            <a:off x="713232" y="3363976"/>
            <a:ext cx="1097280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 없다면 : 이렇게 시간내서 코칭을 하고 있는데, 변화가 없어 속상하겠어요!!</a:t>
            </a:r>
            <a:endParaRPr lang="en-US" sz="1050" dirty="0"/>
          </a:p>
        </p:txBody>
      </p:sp>
      <p:sp>
        <p:nvSpPr>
          <p:cNvPr id="20" name="Text 17"/>
          <p:cNvSpPr txBox="1"/>
          <p:nvPr/>
        </p:nvSpPr>
        <p:spPr>
          <a:xfrm>
            <a:off x="457200" y="3569716"/>
            <a:ext cx="1124712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(질문) 변화가 없는데도, 저와의 코칭 시간에서 어떤 것을 얻고 싶어하는지 다시 한번 이야기 해줄래요?</a:t>
            </a:r>
            <a:endParaRPr lang="en-US" sz="1050" dirty="0"/>
          </a:p>
        </p:txBody>
      </p:sp>
      <p:sp>
        <p:nvSpPr>
          <p:cNvPr id="21" name="Text 18"/>
          <p:cNvSpPr txBox="1"/>
          <p:nvPr/>
        </p:nvSpPr>
        <p:spPr>
          <a:xfrm>
            <a:off x="713232" y="3775456"/>
            <a:ext cx="1097280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000" b="0" i="1" dirty="0">
                <a:solidFill>
                  <a:srgbClr val="28303A"/>
                </a:solidFill>
                <a:latin typeface="맑은 고딕" pitchFamily="34" charset="0"/>
                <a:ea typeface="Malgun Gothic" pitchFamily="34" charset="-122"/>
                <a:cs typeface="Malgun Gothic" pitchFamily="34" charset="-120"/>
              </a:rPr>
              <a:t>(멘토님이 기억하고 </a:t>
            </a:r>
            <a:r>
              <a:rPr lang="en-US" sz="1000" b="0" i="1" dirty="0" err="1">
                <a:solidFill>
                  <a:srgbClr val="28303A"/>
                </a:solidFill>
                <a:latin typeface="맑은 고딕" pitchFamily="34" charset="0"/>
                <a:ea typeface="Malgun Gothic" pitchFamily="34" charset="-122"/>
                <a:cs typeface="Malgun Gothic" pitchFamily="34" charset="-120"/>
              </a:rPr>
              <a:t>있는</a:t>
            </a:r>
            <a:r>
              <a:rPr lang="en-US" sz="1000" b="0" i="1" dirty="0">
                <a:solidFill>
                  <a:srgbClr val="28303A"/>
                </a:solidFill>
                <a:latin typeface="맑은 고딕" pitchFamily="34" charset="0"/>
                <a:ea typeface="Malgun Gothic" pitchFamily="34" charset="-122"/>
                <a:cs typeface="Malgun Gothic" pitchFamily="34" charset="-120"/>
              </a:rPr>
              <a:t> </a:t>
            </a:r>
            <a:r>
              <a:rPr lang="ko-KR" altLang="en-US" sz="1000" b="0" i="1" dirty="0">
                <a:solidFill>
                  <a:srgbClr val="28303A"/>
                </a:solidFill>
                <a:latin typeface="맑은 고딕" pitchFamily="34" charset="0"/>
                <a:ea typeface="Malgun Gothic" pitchFamily="34" charset="-122"/>
                <a:cs typeface="Malgun Gothic" pitchFamily="34" charset="-120"/>
              </a:rPr>
              <a:t>학생이</a:t>
            </a:r>
            <a:r>
              <a:rPr lang="en-US" sz="1000" b="0" i="1" dirty="0">
                <a:solidFill>
                  <a:srgbClr val="28303A"/>
                </a:solidFill>
                <a:latin typeface="맑은 고딕" pitchFamily="34" charset="0"/>
                <a:ea typeface="Malgun Gothic" pitchFamily="34" charset="-122"/>
                <a:cs typeface="Malgun Gothic" pitchFamily="34" charset="-120"/>
              </a:rPr>
              <a:t> 얻고자 했던 것 다시 한번 언급을 해주세요)</a:t>
            </a:r>
            <a:endParaRPr lang="en-US" sz="950" dirty="0"/>
          </a:p>
        </p:txBody>
      </p:sp>
      <p:sp>
        <p:nvSpPr>
          <p:cNvPr id="22" name="Text 19"/>
          <p:cNvSpPr txBox="1"/>
          <p:nvPr/>
        </p:nvSpPr>
        <p:spPr>
          <a:xfrm>
            <a:off x="457200" y="3981196"/>
            <a:ext cx="11247120" cy="237744"/>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(질문) 오늘도 코칭을 통해 작은 변화할 수 있는 것 함께 이야기 나누어 볼까요?</a:t>
            </a:r>
            <a:endParaRPr lang="en-US" sz="1050" dirty="0"/>
          </a:p>
        </p:txBody>
      </p:sp>
      <p:sp>
        <p:nvSpPr>
          <p:cNvPr id="23" name="Shape 20"/>
          <p:cNvSpPr/>
          <p:nvPr/>
        </p:nvSpPr>
        <p:spPr>
          <a:xfrm>
            <a:off x="457200" y="4297680"/>
            <a:ext cx="11155680" cy="786384"/>
          </a:xfrm>
          <a:prstGeom prst="roundRect">
            <a:avLst>
              <a:gd name="adj" fmla="val 6316"/>
            </a:avLst>
          </a:prstGeom>
          <a:solidFill>
            <a:srgbClr val="F2F7FA"/>
          </a:solidFill>
          <a:ln>
            <a:solidFill>
              <a:srgbClr val="D7E4EC"/>
            </a:solidFill>
          </a:ln>
        </p:spPr>
      </p:sp>
      <p:sp>
        <p:nvSpPr>
          <p:cNvPr id="24" name="Text 21"/>
          <p:cNvSpPr txBox="1"/>
          <p:nvPr/>
        </p:nvSpPr>
        <p:spPr>
          <a:xfrm>
            <a:off x="621792" y="4370832"/>
            <a:ext cx="10808208" cy="621792"/>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969" b="1" dirty="0">
                <a:solidFill>
                  <a:srgbClr val="27598E"/>
                </a:solidFill>
                <a:latin typeface="맑은 고딕" pitchFamily="34" charset="0"/>
                <a:ea typeface="Malgun Gothic" pitchFamily="34" charset="-122"/>
                <a:cs typeface="Malgun Gothic" pitchFamily="34" charset="-120"/>
              </a:rPr>
              <a:t>[Tip] 지금까지 코칭을 통해 낯설고 이해되지 않은 부분이 있는지, 어려움은 없었는지 마음의 변화가 있었는지 충분히 이야기 하고 공감을 이면 좋습니다. 즐겁고 앞으로 기대되는 이야기를 나눔으로써 코칭에서 다루고 싶은 내용을 다시 한번 확인하는 것도 필요합니다. 억지로 답을 유도하지 말고 편안하게 시작 할 수 있도록 들어주는 것도 도움이 될 수 있습니다.</a:t>
            </a:r>
            <a:endParaRPr lang="en-US" sz="900" dirty="0"/>
          </a:p>
        </p:txBody>
      </p:sp>
      <p:sp>
        <p:nvSpPr>
          <p:cNvPr id="25" name="Text 22"/>
          <p:cNvSpPr txBox="1"/>
          <p:nvPr/>
        </p:nvSpPr>
        <p:spPr>
          <a:xfrm>
            <a:off x="457200" y="5285232"/>
            <a:ext cx="5669280" cy="384048"/>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750" b="1" dirty="0">
                <a:solidFill>
                  <a:srgbClr val="27598E"/>
                </a:solidFill>
                <a:latin typeface="맑은 고딕" pitchFamily="34" charset="0"/>
                <a:ea typeface="Malgun Gothic" pitchFamily="34" charset="-122"/>
                <a:cs typeface="Malgun Gothic" pitchFamily="34" charset="-120"/>
              </a:rPr>
              <a:t>2. &lt;가치 찾기&gt;</a:t>
            </a:r>
            <a:endParaRPr lang="en-US" sz="1700" dirty="0"/>
          </a:p>
        </p:txBody>
      </p:sp>
      <p:sp>
        <p:nvSpPr>
          <p:cNvPr id="26" name="Text 23"/>
          <p:cNvSpPr txBox="1"/>
          <p:nvPr/>
        </p:nvSpPr>
        <p:spPr>
          <a:xfrm>
            <a:off x="457200" y="5705856"/>
            <a:ext cx="11155680" cy="566928"/>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살아가면서 OO님이 중요하게 여기는 가치에는 어떤 것이 있는지 오늘 시간에 살펴보고</a:t>
            </a:r>
            <a:endParaRPr lang="en-US" sz="1050" dirty="0"/>
          </a:p>
          <a:p>
            <a:pPr marL="0" indent="0">
              <a:lnSpc>
                <a:spcPct val="100000"/>
              </a:lnSpc>
              <a:spcBef>
                <a:spcPts val="0"/>
              </a:spcBef>
              <a:spcAft>
                <a:spcPts val="0"/>
              </a:spcAft>
              <a:buNone/>
            </a:pPr>
            <a:r>
              <a:rPr lang="en-US" sz="1100" b="0" dirty="0">
                <a:solidFill>
                  <a:srgbClr val="28303A"/>
                </a:solidFill>
                <a:latin typeface="맑은 고딕" pitchFamily="34" charset="0"/>
                <a:ea typeface="Malgun Gothic" pitchFamily="34" charset="-122"/>
                <a:cs typeface="Malgun Gothic" pitchFamily="34" charset="-120"/>
              </a:rPr>
              <a:t>그 가치를 어떻게 관리하고 유지할 것인지에 대한 이야기를 나누어 보려고 해요. 자 시작해 볼까요?</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5"/>
          <p:cNvSpPr/>
          <p:nvPr/>
        </p:nvSpPr>
        <p:spPr>
          <a:xfrm>
            <a:off x="457200" y="679704"/>
            <a:ext cx="5394960" cy="0"/>
          </a:xfrm>
          <a:prstGeom prst="line">
            <a:avLst/>
          </a:prstGeom>
          <a:noFill/>
          <a:ln w="12700">
            <a:solidFill>
              <a:srgbClr val="6386CC"/>
            </a:solidFill>
            <a:prstDash val="solid"/>
          </a:ln>
        </p:spPr>
        <p:txBody>
          <a:bodyPr/>
          <a:lstStyle/>
          <a:p>
            <a:endParaRPr/>
          </a:p>
        </p:txBody>
      </p:sp>
      <p:sp>
        <p:nvSpPr>
          <p:cNvPr id="9" name="Shape 6"/>
          <p:cNvSpPr/>
          <p:nvPr/>
        </p:nvSpPr>
        <p:spPr>
          <a:xfrm>
            <a:off x="457200" y="774954"/>
            <a:ext cx="1014984" cy="274320"/>
          </a:xfrm>
          <a:prstGeom prst="roundRect">
            <a:avLst>
              <a:gd name="adj" fmla="val 50000"/>
            </a:avLst>
          </a:prstGeom>
          <a:solidFill>
            <a:srgbClr val="A7AEDF"/>
          </a:solidFill>
          <a:ln/>
        </p:spPr>
        <p:txBody>
          <a:bodyPr/>
          <a:lstStyle/>
          <a:p>
            <a:endParaRPr/>
          </a:p>
        </p:txBody>
      </p:sp>
      <p:sp>
        <p:nvSpPr>
          <p:cNvPr id="10" name="Text 7"/>
          <p:cNvSpPr txBox="1"/>
          <p:nvPr/>
        </p:nvSpPr>
        <p:spPr>
          <a:xfrm>
            <a:off x="424434" y="745236"/>
            <a:ext cx="1143000" cy="310896"/>
          </a:xfrm>
          <a:prstGeom prst="rect">
            <a:avLst/>
          </a:prstGeom>
          <a:noFill/>
          <a:ln/>
        </p:spPr>
        <p:txBody>
          <a:bodyPr wrap="square" lIns="18288" tIns="9144" rIns="18288" bIns="9144" rtlCol="0" anchor="ctr">
            <a:noAutofit/>
          </a:bodyPr>
          <a:lstStyle/>
          <a:p>
            <a:pPr marL="0" indent="0" algn="ctr">
              <a:lnSpc>
                <a:spcPct val="100000"/>
              </a:lnSpc>
              <a:spcBef>
                <a:spcPts val="0"/>
              </a:spcBef>
              <a:spcAft>
                <a:spcPts val="0"/>
              </a:spcAft>
              <a:buNone/>
            </a:pPr>
            <a:r>
              <a:rPr lang="en-US" sz="1250" b="1" dirty="0">
                <a:solidFill>
                  <a:srgbClr val="27598E"/>
                </a:solidFill>
                <a:latin typeface="맑은 고딕" pitchFamily="34" charset="0"/>
                <a:ea typeface="Malgun Gothic" pitchFamily="34" charset="-122"/>
                <a:cs typeface="Malgun Gothic" pitchFamily="34" charset="-120"/>
              </a:rPr>
              <a:t>Step 1</a:t>
            </a:r>
            <a:endParaRPr lang="en-US" sz="1050" dirty="0"/>
          </a:p>
        </p:txBody>
      </p:sp>
      <p:sp>
        <p:nvSpPr>
          <p:cNvPr id="11" name="Text 8"/>
          <p:cNvSpPr txBox="1"/>
          <p:nvPr/>
        </p:nvSpPr>
        <p:spPr>
          <a:xfrm>
            <a:off x="457200" y="1078992"/>
            <a:ext cx="11155680" cy="228600"/>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 아래 항목 중에 내가 중요하게 생각하는 가치 10개에 동그라미하세요</a:t>
            </a:r>
            <a:endParaRPr lang="en-US" sz="1000" dirty="0"/>
          </a:p>
        </p:txBody>
      </p:sp>
      <p:sp>
        <p:nvSpPr>
          <p:cNvPr id="12" name="Text 9"/>
          <p:cNvSpPr txBox="1"/>
          <p:nvPr/>
        </p:nvSpPr>
        <p:spPr>
          <a:xfrm>
            <a:off x="457200" y="1280160"/>
            <a:ext cx="11155680" cy="228600"/>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 선택한 10개를 아래 Table의 가로/세로 노란색 칸에 적어 보세요</a:t>
            </a:r>
            <a:endParaRPr lang="en-US" sz="1000" dirty="0"/>
          </a:p>
        </p:txBody>
      </p:sp>
      <p:sp>
        <p:nvSpPr>
          <p:cNvPr id="13" name="Text 10"/>
          <p:cNvSpPr txBox="1"/>
          <p:nvPr/>
        </p:nvSpPr>
        <p:spPr>
          <a:xfrm>
            <a:off x="457200" y="1481328"/>
            <a:ext cx="11155680" cy="228600"/>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 각각을 비교한 후 더 중요한 것의 숫자를 흰색칸에 입력하세요</a:t>
            </a:r>
            <a:endParaRPr lang="en-US" sz="1000" dirty="0"/>
          </a:p>
        </p:txBody>
      </p:sp>
      <p:sp>
        <p:nvSpPr>
          <p:cNvPr id="14" name="Text 11"/>
          <p:cNvSpPr txBox="1"/>
          <p:nvPr/>
        </p:nvSpPr>
        <p:spPr>
          <a:xfrm>
            <a:off x="457200" y="1682496"/>
            <a:ext cx="11155680" cy="228600"/>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- 1~10개의 개수 합계와, 합계 수량으로 순위를 적어 보세요</a:t>
            </a:r>
            <a:endParaRPr lang="en-US" sz="1000" dirty="0"/>
          </a:p>
        </p:txBody>
      </p:sp>
      <p:sp>
        <p:nvSpPr>
          <p:cNvPr id="15" name="Text 12"/>
          <p:cNvSpPr txBox="1"/>
          <p:nvPr/>
        </p:nvSpPr>
        <p:spPr>
          <a:xfrm>
            <a:off x="457200" y="1883664"/>
            <a:ext cx="11155680" cy="228600"/>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 </a:t>
            </a:r>
            <a:r>
              <a:rPr lang="ko-KR" altLang="en-US" sz="1050" b="0" dirty="0">
                <a:solidFill>
                  <a:srgbClr val="28303A"/>
                </a:solidFill>
                <a:latin typeface="맑은 고딕" pitchFamily="34" charset="0"/>
                <a:ea typeface="Malgun Gothic" pitchFamily="34" charset="-122"/>
                <a:cs typeface="Malgun Gothic" pitchFamily="34" charset="-120"/>
              </a:rPr>
              <a:t>학생이</a:t>
            </a:r>
            <a:r>
              <a:rPr lang="en-US" sz="1050" b="0" dirty="0">
                <a:solidFill>
                  <a:srgbClr val="28303A"/>
                </a:solidFill>
                <a:latin typeface="맑은 고딕" pitchFamily="34" charset="0"/>
                <a:ea typeface="Malgun Gothic" pitchFamily="34" charset="-122"/>
                <a:cs typeface="Malgun Gothic" pitchFamily="34" charset="-120"/>
              </a:rPr>
              <a:t> 작성이 끝나면 사진을 찍어서 문자 또는 SNS로 받으세요</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2363995135"/>
              </p:ext>
            </p:extLst>
          </p:nvPr>
        </p:nvGraphicFramePr>
        <p:xfrm>
          <a:off x="457200" y="2157984"/>
          <a:ext cx="11247120" cy="1691640"/>
        </p:xfrm>
        <a:graphic>
          <a:graphicData uri="http://schemas.openxmlformats.org/drawingml/2006/table">
            <a:tbl>
              <a:tblPr/>
              <a:tblGrid>
                <a:gridCol w="1124712">
                  <a:extLst>
                    <a:ext uri="{9D8B030D-6E8A-4147-A177-3AD203B41FA5}">
                      <a16:colId xmlns:a16="http://schemas.microsoft.com/office/drawing/2014/main" val="20000"/>
                    </a:ext>
                  </a:extLst>
                </a:gridCol>
                <a:gridCol w="1124712">
                  <a:extLst>
                    <a:ext uri="{9D8B030D-6E8A-4147-A177-3AD203B41FA5}">
                      <a16:colId xmlns:a16="http://schemas.microsoft.com/office/drawing/2014/main" val="20001"/>
                    </a:ext>
                  </a:extLst>
                </a:gridCol>
                <a:gridCol w="1124712">
                  <a:extLst>
                    <a:ext uri="{9D8B030D-6E8A-4147-A177-3AD203B41FA5}">
                      <a16:colId xmlns:a16="http://schemas.microsoft.com/office/drawing/2014/main" val="20002"/>
                    </a:ext>
                  </a:extLst>
                </a:gridCol>
                <a:gridCol w="1124712">
                  <a:extLst>
                    <a:ext uri="{9D8B030D-6E8A-4147-A177-3AD203B41FA5}">
                      <a16:colId xmlns:a16="http://schemas.microsoft.com/office/drawing/2014/main" val="20003"/>
                    </a:ext>
                  </a:extLst>
                </a:gridCol>
                <a:gridCol w="1124712">
                  <a:extLst>
                    <a:ext uri="{9D8B030D-6E8A-4147-A177-3AD203B41FA5}">
                      <a16:colId xmlns:a16="http://schemas.microsoft.com/office/drawing/2014/main" val="20004"/>
                    </a:ext>
                  </a:extLst>
                </a:gridCol>
                <a:gridCol w="1124712">
                  <a:extLst>
                    <a:ext uri="{9D8B030D-6E8A-4147-A177-3AD203B41FA5}">
                      <a16:colId xmlns:a16="http://schemas.microsoft.com/office/drawing/2014/main" val="20005"/>
                    </a:ext>
                  </a:extLst>
                </a:gridCol>
                <a:gridCol w="1124712">
                  <a:extLst>
                    <a:ext uri="{9D8B030D-6E8A-4147-A177-3AD203B41FA5}">
                      <a16:colId xmlns:a16="http://schemas.microsoft.com/office/drawing/2014/main" val="20006"/>
                    </a:ext>
                  </a:extLst>
                </a:gridCol>
                <a:gridCol w="1124712">
                  <a:extLst>
                    <a:ext uri="{9D8B030D-6E8A-4147-A177-3AD203B41FA5}">
                      <a16:colId xmlns:a16="http://schemas.microsoft.com/office/drawing/2014/main" val="20007"/>
                    </a:ext>
                  </a:extLst>
                </a:gridCol>
                <a:gridCol w="1124712">
                  <a:extLst>
                    <a:ext uri="{9D8B030D-6E8A-4147-A177-3AD203B41FA5}">
                      <a16:colId xmlns:a16="http://schemas.microsoft.com/office/drawing/2014/main" val="20008"/>
                    </a:ext>
                  </a:extLst>
                </a:gridCol>
                <a:gridCol w="1124712">
                  <a:extLst>
                    <a:ext uri="{9D8B030D-6E8A-4147-A177-3AD203B41FA5}">
                      <a16:colId xmlns:a16="http://schemas.microsoft.com/office/drawing/2014/main" val="20009"/>
                    </a:ext>
                  </a:extLst>
                </a:gridCol>
              </a:tblGrid>
              <a:tr h="169164">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가족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감사</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건강</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결단</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경제적 안정</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공헌</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관계</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관대함</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권력</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교육</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69164">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균형</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긍정적 태도</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끈기</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기술</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나눔</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다양성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단순성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도덕성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도전</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독창성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69164">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리더십</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명성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모험</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미래</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발전</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법과 질서</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배려</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봉사</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부유함</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성공</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69164">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성실</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성장</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승리</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신념</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신뢰</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신앙</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아름다움</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안정</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애국심</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애정</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69164">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여유</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열정</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완벽</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완성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열린 마음</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영성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영향력</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용기</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용서</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외모</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69164">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우정</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유머</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윤리</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겸손</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의지력</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인내</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인정</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자발성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자비</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자유</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69164">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자율성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적극성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전문성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전통과 유산</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절약</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절제</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정서적 안정</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정의</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정직</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조건없는 사랑</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69164">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존경</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존중</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즐거운 삶</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직업적 성취</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사회적 지위</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기여</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친밀감</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진실성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지식</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지혜</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69164">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창의</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충성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탁월성</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팀워크</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쾌활함</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품질</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평화</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프로정신</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충실</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책임</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69164">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학습</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혁신</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조화</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호기심</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r>
                        <a:rPr lang="en-US" sz="830" b="0" dirty="0">
                          <a:solidFill>
                            <a:srgbClr val="28303A"/>
                          </a:solidFill>
                          <a:latin typeface="맑은 고딕" pitchFamily="34" charset="0"/>
                          <a:ea typeface="Malgun Gothic" pitchFamily="34" charset="-122"/>
                          <a:cs typeface="Malgun Gothic" pitchFamily="34" charset="-120"/>
                        </a:rPr>
                        <a:t>환경</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534124105"/>
              </p:ext>
            </p:extLst>
          </p:nvPr>
        </p:nvGraphicFramePr>
        <p:xfrm>
          <a:off x="457200" y="3913632"/>
          <a:ext cx="11247120" cy="2533213"/>
        </p:xfrm>
        <a:graphic>
          <a:graphicData uri="http://schemas.openxmlformats.org/drawingml/2006/table">
            <a:tbl>
              <a:tblPr/>
              <a:tblGrid>
                <a:gridCol w="914400">
                  <a:extLst>
                    <a:ext uri="{9D8B030D-6E8A-4147-A177-3AD203B41FA5}">
                      <a16:colId xmlns:a16="http://schemas.microsoft.com/office/drawing/2014/main" val="20000"/>
                    </a:ext>
                  </a:extLst>
                </a:gridCol>
                <a:gridCol w="1033272">
                  <a:extLst>
                    <a:ext uri="{9D8B030D-6E8A-4147-A177-3AD203B41FA5}">
                      <a16:colId xmlns:a16="http://schemas.microsoft.com/office/drawing/2014/main" val="20001"/>
                    </a:ext>
                  </a:extLst>
                </a:gridCol>
                <a:gridCol w="1033272">
                  <a:extLst>
                    <a:ext uri="{9D8B030D-6E8A-4147-A177-3AD203B41FA5}">
                      <a16:colId xmlns:a16="http://schemas.microsoft.com/office/drawing/2014/main" val="20002"/>
                    </a:ext>
                  </a:extLst>
                </a:gridCol>
                <a:gridCol w="1033272">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033272">
                  <a:extLst>
                    <a:ext uri="{9D8B030D-6E8A-4147-A177-3AD203B41FA5}">
                      <a16:colId xmlns:a16="http://schemas.microsoft.com/office/drawing/2014/main" val="20005"/>
                    </a:ext>
                  </a:extLst>
                </a:gridCol>
                <a:gridCol w="1033272">
                  <a:extLst>
                    <a:ext uri="{9D8B030D-6E8A-4147-A177-3AD203B41FA5}">
                      <a16:colId xmlns:a16="http://schemas.microsoft.com/office/drawing/2014/main" val="20006"/>
                    </a:ext>
                  </a:extLst>
                </a:gridCol>
                <a:gridCol w="1033272">
                  <a:extLst>
                    <a:ext uri="{9D8B030D-6E8A-4147-A177-3AD203B41FA5}">
                      <a16:colId xmlns:a16="http://schemas.microsoft.com/office/drawing/2014/main" val="20007"/>
                    </a:ext>
                  </a:extLst>
                </a:gridCol>
                <a:gridCol w="1033272">
                  <a:extLst>
                    <a:ext uri="{9D8B030D-6E8A-4147-A177-3AD203B41FA5}">
                      <a16:colId xmlns:a16="http://schemas.microsoft.com/office/drawing/2014/main" val="20008"/>
                    </a:ext>
                  </a:extLst>
                </a:gridCol>
                <a:gridCol w="1033272">
                  <a:extLst>
                    <a:ext uri="{9D8B030D-6E8A-4147-A177-3AD203B41FA5}">
                      <a16:colId xmlns:a16="http://schemas.microsoft.com/office/drawing/2014/main" val="20009"/>
                    </a:ext>
                  </a:extLst>
                </a:gridCol>
                <a:gridCol w="1033272">
                  <a:extLst>
                    <a:ext uri="{9D8B030D-6E8A-4147-A177-3AD203B41FA5}">
                      <a16:colId xmlns:a16="http://schemas.microsoft.com/office/drawing/2014/main" val="20010"/>
                    </a:ext>
                  </a:extLst>
                </a:gridCol>
              </a:tblGrid>
              <a:tr h="155448">
                <a:tc rowSpan="2">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가치</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1</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2</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3</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4</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5</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6</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7</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8</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9</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5DB0E5"/>
                    </a:solidFill>
                  </a:tcPr>
                </a:tc>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10</a:t>
                      </a:r>
                      <a:endParaRPr lang="en-US" sz="85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5DB0E5"/>
                    </a:solidFill>
                  </a:tcPr>
                </a:tc>
                <a:extLst>
                  <a:ext uri="{0D108BD9-81ED-4DB2-BD59-A6C34878D82A}">
                    <a16:rowId xmlns:a16="http://schemas.microsoft.com/office/drawing/2014/main" val="10000"/>
                  </a:ext>
                </a:extLst>
              </a:tr>
              <a:tr h="116586">
                <a:tc vMerge="1">
                  <a:txBody>
                    <a:bodyPr/>
                    <a:lstStyle/>
                    <a:p>
                      <a:pPr algn="ctr">
                        <a:lnSpc>
                          <a:spcPct val="92000"/>
                        </a:lnSpc>
                        <a:spcBef>
                          <a:spcPts val="0"/>
                        </a:spcBef>
                        <a:spcAft>
                          <a:spcPts val="0"/>
                        </a:spcAft>
                      </a:pPr>
                      <a:endParaRPr lang="ko-KR"/>
                    </a:p>
                  </a:txBody>
                  <a:tcPr marL="18288" marR="18288" marT="7315" marB="7315" anchor="ct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extLst>
                  <a:ext uri="{0D108BD9-81ED-4DB2-BD59-A6C34878D82A}">
                    <a16:rowId xmlns:a16="http://schemas.microsoft.com/office/drawing/2014/main" val="10001"/>
                  </a:ext>
                </a:extLst>
              </a:tr>
              <a:tr h="155448">
                <a:tc>
                  <a:txBody>
                    <a:bodyPr/>
                    <a:lstStyle/>
                    <a:p>
                      <a:pPr marL="0" indent="0" algn="ctr">
                        <a:lnSpc>
                          <a:spcPct val="92000"/>
                        </a:lnSpc>
                        <a:spcBef>
                          <a:spcPts val="0"/>
                        </a:spcBef>
                        <a:spcAft>
                          <a:spcPts val="0"/>
                        </a:spcAft>
                        <a:buNone/>
                      </a:pP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2"/>
                  </a:ext>
                </a:extLst>
              </a:tr>
              <a:tr h="155448">
                <a:tc>
                  <a:txBody>
                    <a:bodyPr/>
                    <a:lstStyle/>
                    <a:p>
                      <a:pPr marL="0" indent="0" algn="ctr">
                        <a:lnSpc>
                          <a:spcPct val="92000"/>
                        </a:lnSpc>
                        <a:spcBef>
                          <a:spcPts val="0"/>
                        </a:spcBef>
                        <a:spcAft>
                          <a:spcPts val="0"/>
                        </a:spcAft>
                        <a:buNone/>
                      </a:pP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3"/>
                  </a:ext>
                </a:extLst>
              </a:tr>
              <a:tr h="155448">
                <a:tc>
                  <a:txBody>
                    <a:bodyPr/>
                    <a:lstStyle/>
                    <a:p>
                      <a:pPr marL="0" indent="0" algn="ctr">
                        <a:lnSpc>
                          <a:spcPct val="92000"/>
                        </a:lnSpc>
                        <a:spcBef>
                          <a:spcPts val="0"/>
                        </a:spcBef>
                        <a:spcAft>
                          <a:spcPts val="0"/>
                        </a:spcAft>
                        <a:buNone/>
                      </a:pP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4"/>
                  </a:ext>
                </a:extLst>
              </a:tr>
              <a:tr h="155448">
                <a:tc>
                  <a:txBody>
                    <a:bodyPr/>
                    <a:lstStyle/>
                    <a:p>
                      <a:pPr marL="0" indent="0" algn="ctr">
                        <a:lnSpc>
                          <a:spcPct val="92000"/>
                        </a:lnSpc>
                        <a:spcBef>
                          <a:spcPts val="0"/>
                        </a:spcBef>
                        <a:spcAft>
                          <a:spcPts val="0"/>
                        </a:spcAft>
                        <a:buNone/>
                      </a:pP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5"/>
                  </a:ext>
                </a:extLst>
              </a:tr>
              <a:tr h="155448">
                <a:tc>
                  <a:txBody>
                    <a:bodyPr/>
                    <a:lstStyle/>
                    <a:p>
                      <a:pPr marL="0" indent="0" algn="ctr">
                        <a:lnSpc>
                          <a:spcPct val="92000"/>
                        </a:lnSpc>
                        <a:spcBef>
                          <a:spcPts val="0"/>
                        </a:spcBef>
                        <a:spcAft>
                          <a:spcPts val="0"/>
                        </a:spcAft>
                        <a:buNone/>
                      </a:pP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6"/>
                  </a:ext>
                </a:extLst>
              </a:tr>
              <a:tr h="155448">
                <a:tc>
                  <a:txBody>
                    <a:bodyPr/>
                    <a:lstStyle/>
                    <a:p>
                      <a:pPr marL="0" indent="0" algn="ctr">
                        <a:lnSpc>
                          <a:spcPct val="92000"/>
                        </a:lnSpc>
                        <a:spcBef>
                          <a:spcPts val="0"/>
                        </a:spcBef>
                        <a:spcAft>
                          <a:spcPts val="0"/>
                        </a:spcAft>
                        <a:buNone/>
                      </a:pP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7"/>
                  </a:ext>
                </a:extLst>
              </a:tr>
              <a:tr h="155448">
                <a:tc>
                  <a:txBody>
                    <a:bodyPr/>
                    <a:lstStyle/>
                    <a:p>
                      <a:pPr marL="0" indent="0" algn="ctr">
                        <a:lnSpc>
                          <a:spcPct val="92000"/>
                        </a:lnSpc>
                        <a:spcBef>
                          <a:spcPts val="0"/>
                        </a:spcBef>
                        <a:spcAft>
                          <a:spcPts val="0"/>
                        </a:spcAft>
                        <a:buNone/>
                      </a:pP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8"/>
                  </a:ext>
                </a:extLst>
              </a:tr>
              <a:tr h="155448">
                <a:tc>
                  <a:txBody>
                    <a:bodyPr/>
                    <a:lstStyle/>
                    <a:p>
                      <a:pPr marL="0" indent="0" algn="ctr">
                        <a:lnSpc>
                          <a:spcPct val="92000"/>
                        </a:lnSpc>
                        <a:spcBef>
                          <a:spcPts val="0"/>
                        </a:spcBef>
                        <a:spcAft>
                          <a:spcPts val="0"/>
                        </a:spcAft>
                        <a:buNone/>
                      </a:pP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09"/>
                  </a:ext>
                </a:extLst>
              </a:tr>
              <a:tr h="155448">
                <a:tc>
                  <a:txBody>
                    <a:bodyPr/>
                    <a:lstStyle/>
                    <a:p>
                      <a:pPr marL="0" indent="0" algn="ctr">
                        <a:lnSpc>
                          <a:spcPct val="92000"/>
                        </a:lnSpc>
                        <a:spcBef>
                          <a:spcPts val="0"/>
                        </a:spcBef>
                        <a:spcAft>
                          <a:spcPts val="0"/>
                        </a:spcAft>
                        <a:buNone/>
                      </a:pP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10"/>
                  </a:ext>
                </a:extLst>
              </a:tr>
              <a:tr h="155448">
                <a:tc>
                  <a:txBody>
                    <a:bodyPr/>
                    <a:lstStyle/>
                    <a:p>
                      <a:pPr marL="0" indent="0" algn="ctr">
                        <a:lnSpc>
                          <a:spcPct val="92000"/>
                        </a:lnSpc>
                        <a:spcBef>
                          <a:spcPts val="0"/>
                        </a:spcBef>
                        <a:spcAft>
                          <a:spcPts val="0"/>
                        </a:spcAft>
                        <a:buNone/>
                      </a:pP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DF9F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FFFFF"/>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E9E9E9"/>
                    </a:solidFill>
                  </a:tcPr>
                </a:tc>
                <a:extLst>
                  <a:ext uri="{0D108BD9-81ED-4DB2-BD59-A6C34878D82A}">
                    <a16:rowId xmlns:a16="http://schemas.microsoft.com/office/drawing/2014/main" val="10011"/>
                  </a:ext>
                </a:extLst>
              </a:tr>
              <a:tr h="155448">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합계</a:t>
                      </a: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extLst>
                  <a:ext uri="{0D108BD9-81ED-4DB2-BD59-A6C34878D82A}">
                    <a16:rowId xmlns:a16="http://schemas.microsoft.com/office/drawing/2014/main" val="10012"/>
                  </a:ext>
                </a:extLst>
              </a:tr>
              <a:tr h="155448">
                <a:tc>
                  <a:txBody>
                    <a:bodyPr/>
                    <a:lstStyle/>
                    <a:p>
                      <a:pPr marL="0" indent="0" algn="ctr">
                        <a:lnSpc>
                          <a:spcPct val="92000"/>
                        </a:lnSpc>
                        <a:spcBef>
                          <a:spcPts val="0"/>
                        </a:spcBef>
                        <a:spcAft>
                          <a:spcPts val="0"/>
                        </a:spcAft>
                        <a:buNone/>
                      </a:pPr>
                      <a:r>
                        <a:rPr lang="en-US" sz="869" b="0" dirty="0">
                          <a:solidFill>
                            <a:srgbClr val="28303A"/>
                          </a:solidFill>
                          <a:latin typeface="맑은 고딕" pitchFamily="34" charset="0"/>
                          <a:ea typeface="Malgun Gothic" pitchFamily="34" charset="-122"/>
                          <a:cs typeface="Malgun Gothic" pitchFamily="34" charset="-120"/>
                        </a:rPr>
                        <a:t>순위</a:t>
                      </a:r>
                      <a:endParaRPr lang="en-US" sz="800" dirty="0">
                        <a:latin typeface="Malgun Gothic" charset="0"/>
                        <a:ea typeface="Malgun Gothic" charset="0"/>
                        <a:cs typeface="Malgun Gothic" charset="0"/>
                      </a:endParaRPr>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tc>
                  <a:txBody>
                    <a:bodyPr/>
                    <a:lstStyle/>
                    <a:p>
                      <a:pPr marL="0" indent="0" algn="ctr">
                        <a:lnSpc>
                          <a:spcPct val="92000"/>
                        </a:lnSpc>
                        <a:spcBef>
                          <a:spcPts val="0"/>
                        </a:spcBef>
                        <a:spcAft>
                          <a:spcPts val="0"/>
                        </a:spcAft>
                        <a:buNone/>
                      </a:pPr>
                      <a:endParaRPr lang="en-US" sz="1200" dirty="0"/>
                    </a:p>
                  </a:txBody>
                  <a:tcPr marL="18288" marR="18288" marT="7315" marB="7315" anchor="ctr">
                    <a:lnL w="6350" cap="flat" cmpd="sng" algn="ctr">
                      <a:solidFill>
                        <a:srgbClr val="BFDFF6"/>
                      </a:solidFill>
                      <a:prstDash val="solid"/>
                      <a:round/>
                      <a:headEnd type="none" w="med" len="med"/>
                      <a:tailEnd type="none" w="med" len="med"/>
                    </a:lnL>
                    <a:lnR w="6350" cap="flat" cmpd="sng" algn="ctr">
                      <a:solidFill>
                        <a:srgbClr val="BFDFF6"/>
                      </a:solidFill>
                      <a:prstDash val="solid"/>
                      <a:round/>
                      <a:headEnd type="none" w="med" len="med"/>
                      <a:tailEnd type="none" w="med" len="med"/>
                    </a:lnR>
                    <a:lnT w="6350" cap="flat" cmpd="sng" algn="ctr">
                      <a:solidFill>
                        <a:srgbClr val="BFDFF6"/>
                      </a:solidFill>
                      <a:prstDash val="solid"/>
                      <a:round/>
                      <a:headEnd type="none" w="med" len="med"/>
                      <a:tailEnd type="none" w="med" len="med"/>
                    </a:lnT>
                    <a:lnB w="6350" cap="flat" cmpd="sng" algn="ctr">
                      <a:solidFill>
                        <a:srgbClr val="BFDFF6"/>
                      </a:solidFill>
                      <a:prstDash val="solid"/>
                      <a:round/>
                      <a:headEnd type="none" w="med" len="med"/>
                      <a:tailEnd type="none" w="med" len="med"/>
                    </a:lnB>
                    <a:solidFill>
                      <a:srgbClr val="FCD8CB"/>
                    </a:solidFill>
                  </a:tcPr>
                </a:tc>
                <a:extLst>
                  <a:ext uri="{0D108BD9-81ED-4DB2-BD59-A6C34878D82A}">
                    <a16:rowId xmlns:a16="http://schemas.microsoft.com/office/drawing/2014/main" val="10013"/>
                  </a:ext>
                </a:extLst>
              </a:tr>
            </a:tbl>
          </a:graphicData>
        </a:graphic>
      </p:graphicFrame>
      <p:sp>
        <p:nvSpPr>
          <p:cNvPr id="2" name="Text 4">
            <a:extLst>
              <a:ext uri="{FF2B5EF4-FFF2-40B4-BE49-F238E27FC236}">
                <a16:creationId xmlns:a16="http://schemas.microsoft.com/office/drawing/2014/main" id="{19DA3408-AA15-4ABF-B9DE-1850A72D3A15}"/>
              </a:ext>
            </a:extLst>
          </p:cNvPr>
          <p:cNvSpPr txBox="1"/>
          <p:nvPr/>
        </p:nvSpPr>
        <p:spPr>
          <a:xfrm>
            <a:off x="457200" y="256032"/>
            <a:ext cx="11201400" cy="384048"/>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650" b="1" dirty="0">
                <a:solidFill>
                  <a:srgbClr val="27598E"/>
                </a:solidFill>
                <a:latin typeface="맑은 고딕" pitchFamily="34" charset="0"/>
                <a:ea typeface="Malgun Gothic" pitchFamily="34" charset="-122"/>
                <a:cs typeface="Malgun Gothic" pitchFamily="34" charset="-120"/>
              </a:rPr>
              <a:t>오늘의 </a:t>
            </a:r>
            <a:r>
              <a:rPr lang="en-US" sz="1650" b="1" dirty="0" err="1">
                <a:solidFill>
                  <a:srgbClr val="27598E"/>
                </a:solidFill>
                <a:latin typeface="맑은 고딕" pitchFamily="34" charset="0"/>
                <a:ea typeface="Malgun Gothic" pitchFamily="34" charset="-122"/>
                <a:cs typeface="Malgun Gothic" pitchFamily="34" charset="-120"/>
              </a:rPr>
              <a:t>주제</a:t>
            </a:r>
            <a:r>
              <a:rPr lang="en-US" sz="1650" b="1" dirty="0">
                <a:solidFill>
                  <a:srgbClr val="27598E"/>
                </a:solidFill>
                <a:latin typeface="맑은 고딕" pitchFamily="34" charset="0"/>
                <a:ea typeface="Malgun Gothic" pitchFamily="34" charset="-122"/>
                <a:cs typeface="Malgun Gothic" pitchFamily="34" charset="-120"/>
              </a:rPr>
              <a:t>  / </a:t>
            </a:r>
            <a:r>
              <a:rPr lang="en-US" sz="1650" b="1" dirty="0" err="1">
                <a:solidFill>
                  <a:srgbClr val="27598E"/>
                </a:solidFill>
                <a:latin typeface="맑은 고딕" pitchFamily="34" charset="0"/>
                <a:ea typeface="Malgun Gothic" pitchFamily="34" charset="-122"/>
                <a:cs typeface="Malgun Gothic" pitchFamily="34" charset="-120"/>
              </a:rPr>
              <a:t>가치</a:t>
            </a:r>
            <a:r>
              <a:rPr lang="en-US" sz="1650" b="1" dirty="0">
                <a:solidFill>
                  <a:srgbClr val="27598E"/>
                </a:solidFill>
                <a:latin typeface="맑은 고딕" pitchFamily="34" charset="0"/>
                <a:ea typeface="Malgun Gothic" pitchFamily="34" charset="-122"/>
                <a:cs typeface="Malgun Gothic" pitchFamily="34" charset="-120"/>
              </a:rPr>
              <a:t> </a:t>
            </a:r>
            <a:r>
              <a:rPr lang="en-US" sz="1650" b="1" dirty="0" err="1">
                <a:solidFill>
                  <a:srgbClr val="27598E"/>
                </a:solidFill>
                <a:latin typeface="맑은 고딕" pitchFamily="34" charset="0"/>
                <a:ea typeface="Malgun Gothic" pitchFamily="34" charset="-122"/>
                <a:cs typeface="Malgun Gothic" pitchFamily="34" charset="-120"/>
              </a:rPr>
              <a:t>찾기</a:t>
            </a:r>
            <a:r>
              <a:rPr lang="en-US" sz="1650" b="1" dirty="0">
                <a:solidFill>
                  <a:srgbClr val="27598E"/>
                </a:solidFill>
                <a:latin typeface="맑은 고딕" pitchFamily="34" charset="0"/>
                <a:ea typeface="Malgun Gothic" pitchFamily="34" charset="-122"/>
                <a:cs typeface="Malgun Gothic" pitchFamily="34" charset="-120"/>
              </a:rPr>
              <a:t> (Coach </a:t>
            </a:r>
            <a:r>
              <a:rPr lang="ko-KR" altLang="en-US" sz="1650" b="1" dirty="0">
                <a:solidFill>
                  <a:srgbClr val="27598E"/>
                </a:solidFill>
                <a:latin typeface="맑은 고딕" pitchFamily="34" charset="0"/>
                <a:ea typeface="Malgun Gothic" pitchFamily="34" charset="-122"/>
                <a:cs typeface="Malgun Gothic" pitchFamily="34" charset="-120"/>
              </a:rPr>
              <a:t>용</a:t>
            </a:r>
            <a:r>
              <a:rPr lang="en-US" sz="1650" b="1" dirty="0">
                <a:solidFill>
                  <a:srgbClr val="27598E"/>
                </a:solidFill>
                <a:latin typeface="맑은 고딕" pitchFamily="34" charset="0"/>
                <a:ea typeface="Malgun Gothic" pitchFamily="34" charset="-122"/>
                <a:cs typeface="Malgun Gothic"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256032"/>
            <a:ext cx="12191695" cy="6601968"/>
          </a:xfrm>
          <a:prstGeom prst="roundRect">
            <a:avLst>
              <a:gd name="adj" fmla="val 2770"/>
            </a:avLst>
          </a:prstGeom>
          <a:solidFill>
            <a:srgbClr val="FFFFFF"/>
          </a:solidFill>
          <a:ln/>
        </p:spPr>
        <p:txBody>
          <a:bodyPr/>
          <a:lstStyle/>
          <a:p>
            <a:endParaRPr/>
          </a:p>
        </p:txBody>
      </p:sp>
      <p:sp>
        <p:nvSpPr>
          <p:cNvPr id="9" name="Shape 6"/>
          <p:cNvSpPr/>
          <p:nvPr/>
        </p:nvSpPr>
        <p:spPr>
          <a:xfrm>
            <a:off x="521208" y="895227"/>
            <a:ext cx="1014984" cy="274320"/>
          </a:xfrm>
          <a:prstGeom prst="roundRect">
            <a:avLst>
              <a:gd name="adj" fmla="val 50000"/>
            </a:avLst>
          </a:prstGeom>
          <a:solidFill>
            <a:srgbClr val="A7AEDF"/>
          </a:solidFill>
          <a:ln/>
        </p:spPr>
        <p:txBody>
          <a:bodyPr/>
          <a:lstStyle/>
          <a:p>
            <a:endParaRPr/>
          </a:p>
        </p:txBody>
      </p:sp>
      <p:sp>
        <p:nvSpPr>
          <p:cNvPr id="10" name="Text 7"/>
          <p:cNvSpPr txBox="1"/>
          <p:nvPr/>
        </p:nvSpPr>
        <p:spPr>
          <a:xfrm>
            <a:off x="457200" y="841248"/>
            <a:ext cx="1143000" cy="310896"/>
          </a:xfrm>
          <a:prstGeom prst="rect">
            <a:avLst/>
          </a:prstGeom>
          <a:noFill/>
          <a:ln/>
        </p:spPr>
        <p:txBody>
          <a:bodyPr wrap="square" lIns="18288" tIns="9144" rIns="18288" bIns="9144" rtlCol="0" anchor="ctr">
            <a:noAutofit/>
          </a:bodyPr>
          <a:lstStyle/>
          <a:p>
            <a:pPr marL="0" indent="0" algn="ctr">
              <a:lnSpc>
                <a:spcPct val="100000"/>
              </a:lnSpc>
              <a:spcBef>
                <a:spcPts val="0"/>
              </a:spcBef>
              <a:spcAft>
                <a:spcPts val="0"/>
              </a:spcAft>
              <a:buNone/>
            </a:pPr>
            <a:r>
              <a:rPr lang="en-US" sz="1250" b="1" dirty="0">
                <a:solidFill>
                  <a:srgbClr val="27598E"/>
                </a:solidFill>
                <a:latin typeface="맑은 고딕" pitchFamily="34" charset="0"/>
                <a:ea typeface="Malgun Gothic" pitchFamily="34" charset="-122"/>
                <a:cs typeface="Malgun Gothic" pitchFamily="34" charset="-120"/>
              </a:rPr>
              <a:t>Step 2</a:t>
            </a:r>
            <a:endParaRPr lang="en-US" sz="1050" dirty="0"/>
          </a:p>
        </p:txBody>
      </p:sp>
      <p:sp>
        <p:nvSpPr>
          <p:cNvPr id="11" name="Text 8"/>
          <p:cNvSpPr txBox="1"/>
          <p:nvPr/>
        </p:nvSpPr>
        <p:spPr>
          <a:xfrm>
            <a:off x="457200" y="1234440"/>
            <a:ext cx="11173968" cy="278186"/>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120" b="1" dirty="0">
                <a:solidFill>
                  <a:srgbClr val="27598E"/>
                </a:solidFill>
                <a:latin typeface="맑은 고딕" pitchFamily="34" charset="0"/>
                <a:ea typeface="Malgun Gothic" pitchFamily="34" charset="-122"/>
                <a:cs typeface="Malgun Gothic" pitchFamily="34" charset="-120"/>
              </a:rPr>
              <a:t>1. </a:t>
            </a:r>
            <a:r>
              <a:rPr lang="ko-KR" altLang="en-US" sz="1120" b="1" dirty="0">
                <a:solidFill>
                  <a:srgbClr val="27598E"/>
                </a:solidFill>
                <a:latin typeface="맑은 고딕" pitchFamily="34" charset="0"/>
                <a:ea typeface="Malgun Gothic" pitchFamily="34" charset="-122"/>
                <a:cs typeface="Malgun Gothic" pitchFamily="34" charset="-120"/>
              </a:rPr>
              <a:t>학생이</a:t>
            </a:r>
            <a:r>
              <a:rPr lang="en-US" sz="1120" b="1" dirty="0">
                <a:solidFill>
                  <a:srgbClr val="27598E"/>
                </a:solidFill>
                <a:latin typeface="맑은 고딕" pitchFamily="34" charset="0"/>
                <a:ea typeface="Malgun Gothic" pitchFamily="34" charset="-122"/>
                <a:cs typeface="Malgun Gothic" pitchFamily="34" charset="-120"/>
              </a:rPr>
              <a:t> 작성한 가치 찾기를 보면서 아래의 질문을 차례로 한다.</a:t>
            </a:r>
            <a:endParaRPr lang="en-US" sz="1050" dirty="0"/>
          </a:p>
        </p:txBody>
      </p:sp>
      <p:sp>
        <p:nvSpPr>
          <p:cNvPr id="12" name="Text 9"/>
          <p:cNvSpPr txBox="1"/>
          <p:nvPr/>
        </p:nvSpPr>
        <p:spPr>
          <a:xfrm>
            <a:off x="713232" y="1527015"/>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15" b="0" dirty="0">
                <a:solidFill>
                  <a:srgbClr val="28303A"/>
                </a:solidFill>
                <a:latin typeface="맑은 고딕" pitchFamily="34" charset="0"/>
                <a:ea typeface="Malgun Gothic" pitchFamily="34" charset="-122"/>
                <a:cs typeface="Malgun Gothic" pitchFamily="34" charset="-120"/>
              </a:rPr>
              <a:t>(질문) 본인에게 중요한 가치 찾기를 해보니까 어떤가요?</a:t>
            </a:r>
            <a:endParaRPr lang="en-US" sz="1050" dirty="0"/>
          </a:p>
        </p:txBody>
      </p:sp>
      <p:sp>
        <p:nvSpPr>
          <p:cNvPr id="13" name="Text 10"/>
          <p:cNvSpPr txBox="1"/>
          <p:nvPr/>
        </p:nvSpPr>
        <p:spPr>
          <a:xfrm>
            <a:off x="713232" y="1738053"/>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 반응 : </a:t>
            </a:r>
            <a:r>
              <a:rPr lang="ko-KR" altLang="en-US" sz="935" b="0" dirty="0">
                <a:solidFill>
                  <a:srgbClr val="58626C"/>
                </a:solidFill>
                <a:latin typeface="맑은 고딕" pitchFamily="34" charset="0"/>
                <a:ea typeface="Malgun Gothic" pitchFamily="34" charset="-122"/>
                <a:cs typeface="Malgun Gothic" pitchFamily="34" charset="-120"/>
              </a:rPr>
              <a:t>학생이</a:t>
            </a:r>
            <a:r>
              <a:rPr lang="en-US" sz="935" b="0" dirty="0">
                <a:solidFill>
                  <a:srgbClr val="58626C"/>
                </a:solidFill>
                <a:latin typeface="맑은 고딕" pitchFamily="34" charset="0"/>
                <a:ea typeface="Malgun Gothic" pitchFamily="34" charset="-122"/>
                <a:cs typeface="Malgun Gothic" pitchFamily="34" charset="-120"/>
              </a:rPr>
              <a:t> 무언가를 발견 했다고 할 때, 발견을 인정해 주세요 크게 발견한 것이 없다고 할 때,</a:t>
            </a:r>
            <a:endParaRPr lang="en-US" sz="950" dirty="0"/>
          </a:p>
        </p:txBody>
      </p:sp>
      <p:sp>
        <p:nvSpPr>
          <p:cNvPr id="14" name="Text 11"/>
          <p:cNvSpPr txBox="1"/>
          <p:nvPr/>
        </p:nvSpPr>
        <p:spPr>
          <a:xfrm>
            <a:off x="960120" y="1949091"/>
            <a:ext cx="10671048"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"아 그랬군요" 하고 다음 질문을 합니다.</a:t>
            </a:r>
            <a:endParaRPr lang="en-US" sz="950" dirty="0"/>
          </a:p>
        </p:txBody>
      </p:sp>
      <p:sp>
        <p:nvSpPr>
          <p:cNvPr id="15" name="Text 12"/>
          <p:cNvSpPr txBox="1"/>
          <p:nvPr/>
        </p:nvSpPr>
        <p:spPr>
          <a:xfrm>
            <a:off x="457200" y="2160129"/>
            <a:ext cx="11173968" cy="278186"/>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120" b="1" dirty="0">
                <a:solidFill>
                  <a:srgbClr val="27598E"/>
                </a:solidFill>
                <a:latin typeface="맑은 고딕" pitchFamily="34" charset="0"/>
                <a:ea typeface="Malgun Gothic" pitchFamily="34" charset="-122"/>
                <a:cs typeface="Malgun Gothic" pitchFamily="34" charset="-120"/>
              </a:rPr>
              <a:t>2. 최상위 가치 3개 관련</a:t>
            </a:r>
            <a:endParaRPr lang="en-US" sz="1050" dirty="0"/>
          </a:p>
        </p:txBody>
      </p:sp>
      <p:sp>
        <p:nvSpPr>
          <p:cNvPr id="16" name="Text 13"/>
          <p:cNvSpPr txBox="1"/>
          <p:nvPr/>
        </p:nvSpPr>
        <p:spPr>
          <a:xfrm>
            <a:off x="713232" y="2452704"/>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15" b="0" dirty="0">
                <a:solidFill>
                  <a:srgbClr val="28303A"/>
                </a:solidFill>
                <a:latin typeface="맑은 고딕" pitchFamily="34" charset="0"/>
                <a:ea typeface="Malgun Gothic" pitchFamily="34" charset="-122"/>
                <a:cs typeface="Malgun Gothic" pitchFamily="34" charset="-120"/>
              </a:rPr>
              <a:t>(질문) 가장 높은 OO가치에 대해 OO님의 생각을 듣고 싶네요.</a:t>
            </a:r>
            <a:endParaRPr lang="en-US" sz="1050" dirty="0"/>
          </a:p>
        </p:txBody>
      </p:sp>
      <p:sp>
        <p:nvSpPr>
          <p:cNvPr id="17" name="Text 14"/>
          <p:cNvSpPr txBox="1"/>
          <p:nvPr/>
        </p:nvSpPr>
        <p:spPr>
          <a:xfrm>
            <a:off x="713232" y="2663742"/>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15" b="0" dirty="0">
                <a:solidFill>
                  <a:srgbClr val="28303A"/>
                </a:solidFill>
                <a:latin typeface="맑은 고딕" pitchFamily="34" charset="0"/>
                <a:ea typeface="Malgun Gothic" pitchFamily="34" charset="-122"/>
                <a:cs typeface="Malgun Gothic" pitchFamily="34" charset="-120"/>
              </a:rPr>
              <a:t>(질문) 이 가치가 본인에게 중요한 이유는 무엇이라고 생각해요?</a:t>
            </a:r>
            <a:endParaRPr lang="en-US" sz="1050" dirty="0"/>
          </a:p>
        </p:txBody>
      </p:sp>
      <p:sp>
        <p:nvSpPr>
          <p:cNvPr id="18" name="Text 15"/>
          <p:cNvSpPr txBox="1"/>
          <p:nvPr/>
        </p:nvSpPr>
        <p:spPr>
          <a:xfrm>
            <a:off x="713232" y="2874780"/>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이 가치가 본인에게 어떤 의미가 있는 것 같아요?</a:t>
            </a:r>
            <a:endParaRPr lang="en-US" sz="1050" dirty="0"/>
          </a:p>
        </p:txBody>
      </p:sp>
      <p:sp>
        <p:nvSpPr>
          <p:cNvPr id="19" name="Text 16"/>
          <p:cNvSpPr txBox="1"/>
          <p:nvPr/>
        </p:nvSpPr>
        <p:spPr>
          <a:xfrm>
            <a:off x="713232" y="3085818"/>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15" b="0" dirty="0">
                <a:solidFill>
                  <a:srgbClr val="28303A"/>
                </a:solidFill>
                <a:latin typeface="맑은 고딕" pitchFamily="34" charset="0"/>
                <a:ea typeface="Malgun Gothic" pitchFamily="34" charset="-122"/>
                <a:cs typeface="Malgun Gothic" pitchFamily="34" charset="-120"/>
              </a:rPr>
              <a:t>(질문) 본인 가치중에 타인보다 잘하고(노력하고) 있는 가치는 무엇인가요?</a:t>
            </a:r>
            <a:endParaRPr lang="en-US" sz="1050" dirty="0"/>
          </a:p>
        </p:txBody>
      </p:sp>
      <p:sp>
        <p:nvSpPr>
          <p:cNvPr id="20" name="Text 17"/>
          <p:cNvSpPr txBox="1"/>
          <p:nvPr/>
        </p:nvSpPr>
        <p:spPr>
          <a:xfrm>
            <a:off x="713232" y="3296856"/>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15" b="0" dirty="0">
                <a:solidFill>
                  <a:srgbClr val="28303A"/>
                </a:solidFill>
                <a:latin typeface="맑은 고딕" pitchFamily="34" charset="0"/>
                <a:ea typeface="Malgun Gothic" pitchFamily="34" charset="-122"/>
                <a:cs typeface="Malgun Gothic" pitchFamily="34" charset="-120"/>
              </a:rPr>
              <a:t>(질문) 이 최상의 가치 관련 평소에 어떤 행동 또는 실천을 하고 있나요?</a:t>
            </a:r>
            <a:endParaRPr lang="en-US" sz="1050" dirty="0"/>
          </a:p>
        </p:txBody>
      </p:sp>
      <p:sp>
        <p:nvSpPr>
          <p:cNvPr id="21" name="Text 18"/>
          <p:cNvSpPr txBox="1"/>
          <p:nvPr/>
        </p:nvSpPr>
        <p:spPr>
          <a:xfrm>
            <a:off x="713232" y="3507894"/>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15" b="0" dirty="0">
                <a:solidFill>
                  <a:srgbClr val="28303A"/>
                </a:solidFill>
                <a:latin typeface="맑은 고딕" pitchFamily="34" charset="0"/>
                <a:ea typeface="Malgun Gothic" pitchFamily="34" charset="-122"/>
                <a:cs typeface="Malgun Gothic" pitchFamily="34" charset="-120"/>
              </a:rPr>
              <a:t>(질문) 그런 행동을 통해서 어떤 것을 얻고(성장, 변화) 있는지요?</a:t>
            </a:r>
            <a:endParaRPr lang="en-US" sz="1050" dirty="0"/>
          </a:p>
        </p:txBody>
      </p:sp>
      <p:sp>
        <p:nvSpPr>
          <p:cNvPr id="22" name="Text 19"/>
          <p:cNvSpPr txBox="1"/>
          <p:nvPr/>
        </p:nvSpPr>
        <p:spPr>
          <a:xfrm>
            <a:off x="713232" y="3718932"/>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 3개 가치에 대해서 위와 같은 방법으로 순차적으로 질문해 보세요 </a:t>
            </a:r>
            <a:r>
              <a:rPr lang="en-US" sz="935" b="0" dirty="0" err="1">
                <a:solidFill>
                  <a:srgbClr val="58626C"/>
                </a:solidFill>
                <a:latin typeface="맑은 고딕" pitchFamily="34" charset="0"/>
                <a:ea typeface="Malgun Gothic" pitchFamily="34" charset="-122"/>
                <a:cs typeface="Malgun Gothic" pitchFamily="34" charset="-120"/>
              </a:rPr>
              <a:t>또는</a:t>
            </a:r>
            <a:r>
              <a:rPr lang="en-US" sz="935" b="0" dirty="0">
                <a:solidFill>
                  <a:srgbClr val="58626C"/>
                </a:solidFill>
                <a:latin typeface="맑은 고딕" pitchFamily="34" charset="0"/>
                <a:ea typeface="Malgun Gothic" pitchFamily="34" charset="-122"/>
                <a:cs typeface="Malgun Gothic" pitchFamily="34" charset="-120"/>
              </a:rPr>
              <a:t> </a:t>
            </a:r>
            <a:r>
              <a:rPr lang="ko-KR" altLang="en-US" sz="935" b="0" dirty="0">
                <a:solidFill>
                  <a:srgbClr val="58626C"/>
                </a:solidFill>
                <a:latin typeface="맑은 고딕" pitchFamily="34" charset="0"/>
                <a:ea typeface="Malgun Gothic" pitchFamily="34" charset="-122"/>
                <a:cs typeface="Malgun Gothic" pitchFamily="34" charset="-120"/>
              </a:rPr>
              <a:t>학생에게</a:t>
            </a:r>
            <a:r>
              <a:rPr lang="en-US" sz="935" b="0" dirty="0">
                <a:solidFill>
                  <a:srgbClr val="58626C"/>
                </a:solidFill>
                <a:latin typeface="맑은 고딕" pitchFamily="34" charset="0"/>
                <a:ea typeface="Malgun Gothic" pitchFamily="34" charset="-122"/>
                <a:cs typeface="Malgun Gothic" pitchFamily="34" charset="-120"/>
              </a:rPr>
              <a:t> 3가지 가치중</a:t>
            </a:r>
            <a:endParaRPr lang="en-US" sz="950" dirty="0"/>
          </a:p>
        </p:txBody>
      </p:sp>
      <p:sp>
        <p:nvSpPr>
          <p:cNvPr id="23" name="Text 20"/>
          <p:cNvSpPr txBox="1"/>
          <p:nvPr/>
        </p:nvSpPr>
        <p:spPr>
          <a:xfrm>
            <a:off x="960120" y="3929970"/>
            <a:ext cx="10671048"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어떤 것을 제일 먼저 이야기 나누고 싶은지 선택권을 주는 것도 좋습니다.</a:t>
            </a:r>
            <a:endParaRPr lang="en-US" sz="950" dirty="0"/>
          </a:p>
        </p:txBody>
      </p:sp>
      <p:sp>
        <p:nvSpPr>
          <p:cNvPr id="24" name="Text 21"/>
          <p:cNvSpPr txBox="1"/>
          <p:nvPr/>
        </p:nvSpPr>
        <p:spPr>
          <a:xfrm>
            <a:off x="457200" y="4141008"/>
            <a:ext cx="11173968" cy="278186"/>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120" b="1" dirty="0">
                <a:solidFill>
                  <a:srgbClr val="27598E"/>
                </a:solidFill>
                <a:latin typeface="맑은 고딕" pitchFamily="34" charset="0"/>
                <a:ea typeface="Malgun Gothic" pitchFamily="34" charset="-122"/>
                <a:cs typeface="Malgun Gothic" pitchFamily="34" charset="-120"/>
              </a:rPr>
              <a:t>3. 차상위 가치 3개 관련</a:t>
            </a:r>
            <a:endParaRPr lang="en-US" sz="1050" dirty="0"/>
          </a:p>
        </p:txBody>
      </p:sp>
      <p:sp>
        <p:nvSpPr>
          <p:cNvPr id="25" name="Text 22"/>
          <p:cNvSpPr txBox="1"/>
          <p:nvPr/>
        </p:nvSpPr>
        <p:spPr>
          <a:xfrm>
            <a:off x="713232" y="4433583"/>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15" b="0" dirty="0">
                <a:solidFill>
                  <a:srgbClr val="28303A"/>
                </a:solidFill>
                <a:latin typeface="맑은 고딕" pitchFamily="34" charset="0"/>
                <a:ea typeface="Malgun Gothic" pitchFamily="34" charset="-122"/>
                <a:cs typeface="Malgun Gothic" pitchFamily="34" charset="-120"/>
              </a:rPr>
              <a:t>(질문) 차상위 3개 항목이 본인에게 어떤 의미가 있나요?</a:t>
            </a:r>
            <a:endParaRPr lang="en-US" sz="1050" dirty="0"/>
          </a:p>
        </p:txBody>
      </p:sp>
      <p:sp>
        <p:nvSpPr>
          <p:cNvPr id="26" name="Text 23"/>
          <p:cNvSpPr txBox="1"/>
          <p:nvPr/>
        </p:nvSpPr>
        <p:spPr>
          <a:xfrm>
            <a:off x="713232" y="4644621"/>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15" b="0" dirty="0">
                <a:solidFill>
                  <a:srgbClr val="28303A"/>
                </a:solidFill>
                <a:latin typeface="맑은 고딕" pitchFamily="34" charset="0"/>
                <a:ea typeface="Malgun Gothic" pitchFamily="34" charset="-122"/>
                <a:cs typeface="Malgun Gothic" pitchFamily="34" charset="-120"/>
              </a:rPr>
              <a:t>(질문) 이 가치중에 좀더 이야기 나누고 싶은 가치는 무엇인가요?</a:t>
            </a:r>
            <a:endParaRPr lang="en-US" sz="1050" dirty="0"/>
          </a:p>
        </p:txBody>
      </p:sp>
      <p:sp>
        <p:nvSpPr>
          <p:cNvPr id="27" name="Text 24"/>
          <p:cNvSpPr txBox="1"/>
          <p:nvPr/>
        </p:nvSpPr>
        <p:spPr>
          <a:xfrm>
            <a:off x="713232" y="4855659"/>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 이야기하는 가치를 차상위 가치 3개의 질문을 활용해서 이야기 나누어 보세요.</a:t>
            </a:r>
            <a:endParaRPr lang="en-US" sz="950" dirty="0"/>
          </a:p>
        </p:txBody>
      </p:sp>
      <p:sp>
        <p:nvSpPr>
          <p:cNvPr id="28" name="Text 25"/>
          <p:cNvSpPr txBox="1"/>
          <p:nvPr/>
        </p:nvSpPr>
        <p:spPr>
          <a:xfrm>
            <a:off x="457200" y="5066697"/>
            <a:ext cx="11173968" cy="278186"/>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120" b="1" dirty="0">
                <a:solidFill>
                  <a:srgbClr val="27598E"/>
                </a:solidFill>
                <a:latin typeface="맑은 고딕" pitchFamily="34" charset="0"/>
                <a:ea typeface="Malgun Gothic" pitchFamily="34" charset="-122"/>
                <a:cs typeface="Malgun Gothic" pitchFamily="34" charset="-120"/>
              </a:rPr>
              <a:t>4. 선택한 6가지 가치를 활용한 가치 문장 만들기</a:t>
            </a:r>
            <a:endParaRPr lang="en-US" sz="1050" dirty="0"/>
          </a:p>
        </p:txBody>
      </p:sp>
      <p:sp>
        <p:nvSpPr>
          <p:cNvPr id="29" name="Text 26"/>
          <p:cNvSpPr txBox="1"/>
          <p:nvPr/>
        </p:nvSpPr>
        <p:spPr>
          <a:xfrm>
            <a:off x="713232" y="5359273"/>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- 6가지 가치 중 나를 향한 것, 사회(타인)을 향한 것으로 나누어 볼까요</a:t>
            </a:r>
            <a:endParaRPr lang="en-US" sz="950" dirty="0"/>
          </a:p>
        </p:txBody>
      </p:sp>
      <p:sp>
        <p:nvSpPr>
          <p:cNvPr id="30" name="Text 27"/>
          <p:cNvSpPr txBox="1"/>
          <p:nvPr/>
        </p:nvSpPr>
        <p:spPr>
          <a:xfrm>
            <a:off x="960120" y="5570311"/>
            <a:ext cx="10671048"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(예: 나 - 건강, 성취, 경제력 등 / 사회(타인) - 영향력, 존중, 애국심)</a:t>
            </a:r>
            <a:endParaRPr lang="en-US" sz="900" dirty="0"/>
          </a:p>
        </p:txBody>
      </p:sp>
      <p:sp>
        <p:nvSpPr>
          <p:cNvPr id="31" name="Text 28"/>
          <p:cNvSpPr txBox="1"/>
          <p:nvPr/>
        </p:nvSpPr>
        <p:spPr>
          <a:xfrm>
            <a:off x="713232" y="5781349"/>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 나의 가치와 사회(타인) 가치를 활용하여 나의 존재 이유와 가치 문장 만들기</a:t>
            </a:r>
            <a:endParaRPr lang="en-US" sz="950" dirty="0"/>
          </a:p>
        </p:txBody>
      </p:sp>
      <p:sp>
        <p:nvSpPr>
          <p:cNvPr id="32" name="Text 29"/>
          <p:cNvSpPr txBox="1"/>
          <p:nvPr/>
        </p:nvSpPr>
        <p:spPr>
          <a:xfrm>
            <a:off x="960120" y="5992387"/>
            <a:ext cx="10671048"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(예: 나 - 가치가 성장, 자기 계발, 기쁨이고 / 사회(타인) - 선한 영향력일 경우</a:t>
            </a:r>
            <a:endParaRPr lang="en-US" sz="900" dirty="0"/>
          </a:p>
        </p:txBody>
      </p:sp>
      <p:sp>
        <p:nvSpPr>
          <p:cNvPr id="33" name="Text 30"/>
          <p:cNvSpPr txBox="1"/>
          <p:nvPr/>
        </p:nvSpPr>
        <p:spPr>
          <a:xfrm>
            <a:off x="713232" y="6203425"/>
            <a:ext cx="10917936"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 나는 성장의 자기계발을 통해 기쁨을 느끼고, 나의 기쁨을 사회에 나누는 선한 영향력 주는 사람이</a:t>
            </a:r>
            <a:endParaRPr lang="en-US" sz="950" dirty="0"/>
          </a:p>
        </p:txBody>
      </p:sp>
      <p:sp>
        <p:nvSpPr>
          <p:cNvPr id="34" name="Text 31"/>
          <p:cNvSpPr txBox="1"/>
          <p:nvPr/>
        </p:nvSpPr>
        <p:spPr>
          <a:xfrm>
            <a:off x="960120" y="6414462"/>
            <a:ext cx="10671048" cy="19664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35" b="0" dirty="0">
                <a:solidFill>
                  <a:srgbClr val="58626C"/>
                </a:solidFill>
                <a:latin typeface="맑은 고딕" pitchFamily="34" charset="0"/>
                <a:ea typeface="Malgun Gothic" pitchFamily="34" charset="-122"/>
                <a:cs typeface="Malgun Gothic" pitchFamily="34" charset="-120"/>
              </a:rPr>
              <a:t>되고 싶어요.</a:t>
            </a:r>
            <a:endParaRPr lang="en-US" sz="950" dirty="0"/>
          </a:p>
        </p:txBody>
      </p:sp>
      <p:sp>
        <p:nvSpPr>
          <p:cNvPr id="38" name="Shape 5">
            <a:extLst>
              <a:ext uri="{FF2B5EF4-FFF2-40B4-BE49-F238E27FC236}">
                <a16:creationId xmlns:a16="http://schemas.microsoft.com/office/drawing/2014/main" id="{5020817B-C7FA-C27A-FFEB-1837DD723F83}"/>
              </a:ext>
            </a:extLst>
          </p:cNvPr>
          <p:cNvSpPr/>
          <p:nvPr/>
        </p:nvSpPr>
        <p:spPr>
          <a:xfrm>
            <a:off x="457200" y="679704"/>
            <a:ext cx="5394960" cy="0"/>
          </a:xfrm>
          <a:prstGeom prst="line">
            <a:avLst/>
          </a:prstGeom>
          <a:noFill/>
          <a:ln w="12700">
            <a:solidFill>
              <a:srgbClr val="6386CC"/>
            </a:solidFill>
            <a:prstDash val="solid"/>
          </a:ln>
        </p:spPr>
        <p:txBody>
          <a:bodyPr/>
          <a:lstStyle/>
          <a:p>
            <a:endParaRPr/>
          </a:p>
        </p:txBody>
      </p:sp>
      <p:sp>
        <p:nvSpPr>
          <p:cNvPr id="2" name="Text 4">
            <a:extLst>
              <a:ext uri="{FF2B5EF4-FFF2-40B4-BE49-F238E27FC236}">
                <a16:creationId xmlns:a16="http://schemas.microsoft.com/office/drawing/2014/main" id="{D43535DB-4A38-E6AE-33CC-3964994E0BCC}"/>
              </a:ext>
            </a:extLst>
          </p:cNvPr>
          <p:cNvSpPr txBox="1"/>
          <p:nvPr/>
        </p:nvSpPr>
        <p:spPr>
          <a:xfrm>
            <a:off x="457200" y="256032"/>
            <a:ext cx="11201400" cy="384048"/>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650" b="1" dirty="0">
                <a:solidFill>
                  <a:srgbClr val="27598E"/>
                </a:solidFill>
                <a:latin typeface="맑은 고딕" pitchFamily="34" charset="0"/>
                <a:ea typeface="Malgun Gothic" pitchFamily="34" charset="-122"/>
                <a:cs typeface="Malgun Gothic" pitchFamily="34" charset="-120"/>
              </a:rPr>
              <a:t>오늘의 </a:t>
            </a:r>
            <a:r>
              <a:rPr lang="en-US" sz="1650" b="1" dirty="0" err="1">
                <a:solidFill>
                  <a:srgbClr val="27598E"/>
                </a:solidFill>
                <a:latin typeface="맑은 고딕" pitchFamily="34" charset="0"/>
                <a:ea typeface="Malgun Gothic" pitchFamily="34" charset="-122"/>
                <a:cs typeface="Malgun Gothic" pitchFamily="34" charset="-120"/>
              </a:rPr>
              <a:t>주제</a:t>
            </a:r>
            <a:r>
              <a:rPr lang="en-US" sz="1650" b="1" dirty="0">
                <a:solidFill>
                  <a:srgbClr val="27598E"/>
                </a:solidFill>
                <a:latin typeface="맑은 고딕" pitchFamily="34" charset="0"/>
                <a:ea typeface="Malgun Gothic" pitchFamily="34" charset="-122"/>
                <a:cs typeface="Malgun Gothic" pitchFamily="34" charset="-120"/>
              </a:rPr>
              <a:t>  / </a:t>
            </a:r>
            <a:r>
              <a:rPr lang="en-US" sz="1650" b="1" dirty="0" err="1">
                <a:solidFill>
                  <a:srgbClr val="27598E"/>
                </a:solidFill>
                <a:latin typeface="맑은 고딕" pitchFamily="34" charset="0"/>
                <a:ea typeface="Malgun Gothic" pitchFamily="34" charset="-122"/>
                <a:cs typeface="Malgun Gothic" pitchFamily="34" charset="-120"/>
              </a:rPr>
              <a:t>가치</a:t>
            </a:r>
            <a:r>
              <a:rPr lang="en-US" sz="1650" b="1" dirty="0">
                <a:solidFill>
                  <a:srgbClr val="27598E"/>
                </a:solidFill>
                <a:latin typeface="맑은 고딕" pitchFamily="34" charset="0"/>
                <a:ea typeface="Malgun Gothic" pitchFamily="34" charset="-122"/>
                <a:cs typeface="Malgun Gothic" pitchFamily="34" charset="-120"/>
              </a:rPr>
              <a:t> </a:t>
            </a:r>
            <a:r>
              <a:rPr lang="en-US" sz="1650" b="1" dirty="0" err="1">
                <a:solidFill>
                  <a:srgbClr val="27598E"/>
                </a:solidFill>
                <a:latin typeface="맑은 고딕" pitchFamily="34" charset="0"/>
                <a:ea typeface="Malgun Gothic" pitchFamily="34" charset="-122"/>
                <a:cs typeface="Malgun Gothic" pitchFamily="34" charset="-120"/>
              </a:rPr>
              <a:t>찾기</a:t>
            </a:r>
            <a:r>
              <a:rPr lang="en-US" sz="1650" b="1" dirty="0">
                <a:solidFill>
                  <a:srgbClr val="27598E"/>
                </a:solidFill>
                <a:latin typeface="맑은 고딕" pitchFamily="34" charset="0"/>
                <a:ea typeface="Malgun Gothic" pitchFamily="34" charset="-122"/>
                <a:cs typeface="Malgun Gothic" pitchFamily="34" charset="-120"/>
              </a:rPr>
              <a:t> (Coach </a:t>
            </a:r>
            <a:r>
              <a:rPr lang="ko-KR" altLang="en-US" sz="1650" b="1" dirty="0">
                <a:solidFill>
                  <a:srgbClr val="27598E"/>
                </a:solidFill>
                <a:latin typeface="맑은 고딕" pitchFamily="34" charset="0"/>
                <a:ea typeface="Malgun Gothic" pitchFamily="34" charset="-122"/>
                <a:cs typeface="Malgun Gothic" pitchFamily="34" charset="-120"/>
              </a:rPr>
              <a:t>용</a:t>
            </a:r>
            <a:r>
              <a:rPr lang="en-US" sz="1650" b="1" dirty="0">
                <a:solidFill>
                  <a:srgbClr val="27598E"/>
                </a:solidFill>
                <a:latin typeface="맑은 고딕" pitchFamily="34" charset="0"/>
                <a:ea typeface="Malgun Gothic" pitchFamily="34" charset="-122"/>
                <a:cs typeface="Malgun Gothic" pitchFamily="34" charset="-120"/>
              </a:rPr>
              <a: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6"/>
          <p:cNvSpPr txBox="1"/>
          <p:nvPr/>
        </p:nvSpPr>
        <p:spPr>
          <a:xfrm>
            <a:off x="457200" y="896112"/>
            <a:ext cx="5669280" cy="384048"/>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800" b="1" dirty="0">
                <a:solidFill>
                  <a:srgbClr val="27598E"/>
                </a:solidFill>
                <a:latin typeface="맑은 고딕" pitchFamily="34" charset="0"/>
                <a:ea typeface="Malgun Gothic" pitchFamily="34" charset="-122"/>
                <a:cs typeface="Malgun Gothic" pitchFamily="34" charset="-120"/>
              </a:rPr>
              <a:t>3. 마무리</a:t>
            </a:r>
            <a:endParaRPr lang="en-US" sz="1700" dirty="0"/>
          </a:p>
        </p:txBody>
      </p:sp>
      <p:sp>
        <p:nvSpPr>
          <p:cNvPr id="10" name="Text 7"/>
          <p:cNvSpPr txBox="1"/>
          <p:nvPr/>
        </p:nvSpPr>
        <p:spPr>
          <a:xfrm>
            <a:off x="457200" y="1417320"/>
            <a:ext cx="11173968" cy="27026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150" b="1" dirty="0">
                <a:solidFill>
                  <a:srgbClr val="27598E"/>
                </a:solidFill>
                <a:latin typeface="맑은 고딕" pitchFamily="34" charset="0"/>
                <a:ea typeface="Malgun Gothic" pitchFamily="34" charset="-122"/>
                <a:cs typeface="Malgun Gothic" pitchFamily="34" charset="-120"/>
              </a:rPr>
              <a:t>1) 느낀점</a:t>
            </a:r>
            <a:endParaRPr lang="en-US" sz="1050" dirty="0"/>
          </a:p>
        </p:txBody>
      </p:sp>
      <p:sp>
        <p:nvSpPr>
          <p:cNvPr id="11" name="Text 8"/>
          <p:cNvSpPr txBox="1"/>
          <p:nvPr/>
        </p:nvSpPr>
        <p:spPr>
          <a:xfrm>
            <a:off x="713232" y="1704963"/>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(질문) 오늘 나의 가치를 보면 나라는 사람은 어떤 것을 추구하는 것 같나요?</a:t>
            </a:r>
            <a:endParaRPr lang="en-US" sz="1050" dirty="0"/>
          </a:p>
        </p:txBody>
      </p:sp>
      <p:sp>
        <p:nvSpPr>
          <p:cNvPr id="12" name="Text 9"/>
          <p:cNvSpPr txBox="1"/>
          <p:nvPr/>
        </p:nvSpPr>
        <p:spPr>
          <a:xfrm>
            <a:off x="960120" y="1939519"/>
            <a:ext cx="10671048"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80" b="0" dirty="0">
                <a:solidFill>
                  <a:srgbClr val="28303A"/>
                </a:solidFill>
                <a:latin typeface="맑은 고딕" pitchFamily="34" charset="0"/>
                <a:ea typeface="Malgun Gothic" pitchFamily="34" charset="-122"/>
                <a:cs typeface="Malgun Gothic" pitchFamily="34" charset="-120"/>
              </a:rPr>
              <a:t>나는 어떤 사람인가요?</a:t>
            </a:r>
            <a:endParaRPr lang="en-US" sz="1050" dirty="0"/>
          </a:p>
        </p:txBody>
      </p:sp>
      <p:sp>
        <p:nvSpPr>
          <p:cNvPr id="13" name="Text 10"/>
          <p:cNvSpPr txBox="1"/>
          <p:nvPr/>
        </p:nvSpPr>
        <p:spPr>
          <a:xfrm>
            <a:off x="713232" y="2174074"/>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(질문) 나의 가치를 통해 삶에서 부딪치고 힘들었던 점은 무엇인가요?</a:t>
            </a:r>
            <a:endParaRPr lang="en-US" sz="1050" dirty="0"/>
          </a:p>
        </p:txBody>
      </p:sp>
      <p:sp>
        <p:nvSpPr>
          <p:cNvPr id="14" name="Text 11"/>
          <p:cNvSpPr txBox="1"/>
          <p:nvPr/>
        </p:nvSpPr>
        <p:spPr>
          <a:xfrm>
            <a:off x="960120" y="2408629"/>
            <a:ext cx="10671048"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80" b="0" dirty="0">
                <a:solidFill>
                  <a:srgbClr val="28303A"/>
                </a:solidFill>
                <a:latin typeface="맑은 고딕" pitchFamily="34" charset="0"/>
                <a:ea typeface="Malgun Gothic" pitchFamily="34" charset="-122"/>
                <a:cs typeface="Malgun Gothic" pitchFamily="34" charset="-120"/>
              </a:rPr>
              <a:t>그때 나는 어떤 감정을 느끼나요? 왜 그런것 같나요?</a:t>
            </a:r>
            <a:endParaRPr lang="en-US" sz="1050" dirty="0"/>
          </a:p>
        </p:txBody>
      </p:sp>
      <p:sp>
        <p:nvSpPr>
          <p:cNvPr id="15" name="Text 12"/>
          <p:cNvSpPr txBox="1"/>
          <p:nvPr/>
        </p:nvSpPr>
        <p:spPr>
          <a:xfrm>
            <a:off x="960120" y="2643184"/>
            <a:ext cx="10671048"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80" b="0" dirty="0">
                <a:solidFill>
                  <a:srgbClr val="28303A"/>
                </a:solidFill>
                <a:latin typeface="맑은 고딕" pitchFamily="34" charset="0"/>
                <a:ea typeface="Malgun Gothic" pitchFamily="34" charset="-122"/>
                <a:cs typeface="Malgun Gothic" pitchFamily="34" charset="-120"/>
              </a:rPr>
              <a:t>(나의 가치 기준이 너무 높은것인지, 자기가 원하는 것인지 나를 그렇게 남이 대해주고 싶은 것인지)</a:t>
            </a:r>
            <a:endParaRPr lang="en-US" sz="900" dirty="0"/>
          </a:p>
        </p:txBody>
      </p:sp>
      <p:sp>
        <p:nvSpPr>
          <p:cNvPr id="16" name="Text 13"/>
          <p:cNvSpPr txBox="1"/>
          <p:nvPr/>
        </p:nvSpPr>
        <p:spPr>
          <a:xfrm>
            <a:off x="713232" y="2877740"/>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(질문) 나의 가치를 통해 의미있거나 동기부여가 되는 점은 있을까요?</a:t>
            </a:r>
            <a:endParaRPr lang="en-US" sz="1050" dirty="0"/>
          </a:p>
        </p:txBody>
      </p:sp>
      <p:sp>
        <p:nvSpPr>
          <p:cNvPr id="17" name="Text 14"/>
          <p:cNvSpPr txBox="1"/>
          <p:nvPr/>
        </p:nvSpPr>
        <p:spPr>
          <a:xfrm>
            <a:off x="713232" y="3112295"/>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(질문) 알게 됨으로써 어떤 변화를 기대할 수 있나요?</a:t>
            </a:r>
            <a:endParaRPr lang="en-US" sz="1050" dirty="0"/>
          </a:p>
        </p:txBody>
      </p:sp>
      <p:sp>
        <p:nvSpPr>
          <p:cNvPr id="18" name="Text 15"/>
          <p:cNvSpPr txBox="1"/>
          <p:nvPr/>
        </p:nvSpPr>
        <p:spPr>
          <a:xfrm>
            <a:off x="457200" y="3346850"/>
            <a:ext cx="11173968" cy="27026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150" b="1" dirty="0">
                <a:solidFill>
                  <a:srgbClr val="27598E"/>
                </a:solidFill>
                <a:latin typeface="맑은 고딕" pitchFamily="34" charset="0"/>
                <a:ea typeface="Malgun Gothic" pitchFamily="34" charset="-122"/>
                <a:cs typeface="Malgun Gothic" pitchFamily="34" charset="-120"/>
              </a:rPr>
              <a:t>2) 실천사항</a:t>
            </a:r>
            <a:endParaRPr lang="en-US" sz="1050" dirty="0"/>
          </a:p>
        </p:txBody>
      </p:sp>
      <p:sp>
        <p:nvSpPr>
          <p:cNvPr id="19" name="Text 16"/>
          <p:cNvSpPr txBox="1"/>
          <p:nvPr/>
        </p:nvSpPr>
        <p:spPr>
          <a:xfrm>
            <a:off x="713232" y="3634494"/>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(질문) 오늘 만든 가치 문장 다시 한번 읽어 줄래요?</a:t>
            </a:r>
            <a:endParaRPr lang="en-US" sz="1050" dirty="0"/>
          </a:p>
        </p:txBody>
      </p:sp>
      <p:sp>
        <p:nvSpPr>
          <p:cNvPr id="20" name="Text 17"/>
          <p:cNvSpPr txBox="1"/>
          <p:nvPr/>
        </p:nvSpPr>
        <p:spPr>
          <a:xfrm>
            <a:off x="713232" y="3869049"/>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(질문) 그것을 실천하기 위해 다음 만남전에 어떤 것을 실천해 볼 수 있을까요?</a:t>
            </a:r>
            <a:endParaRPr lang="en-US" sz="1050" dirty="0"/>
          </a:p>
        </p:txBody>
      </p:sp>
      <p:sp>
        <p:nvSpPr>
          <p:cNvPr id="21" name="Text 18"/>
          <p:cNvSpPr txBox="1"/>
          <p:nvPr/>
        </p:nvSpPr>
        <p:spPr>
          <a:xfrm>
            <a:off x="713232" y="4103604"/>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(질문) 또 어떤 것이?</a:t>
            </a:r>
            <a:endParaRPr lang="en-US" sz="1050" dirty="0"/>
          </a:p>
        </p:txBody>
      </p:sp>
      <p:sp>
        <p:nvSpPr>
          <p:cNvPr id="22" name="Text 19"/>
          <p:cNvSpPr txBox="1"/>
          <p:nvPr/>
        </p:nvSpPr>
        <p:spPr>
          <a:xfrm>
            <a:off x="713232" y="4338160"/>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(질문) 그 밖에는 ?</a:t>
            </a:r>
            <a:endParaRPr lang="en-US" sz="1050" dirty="0"/>
          </a:p>
        </p:txBody>
      </p:sp>
      <p:sp>
        <p:nvSpPr>
          <p:cNvPr id="23" name="Text 20"/>
          <p:cNvSpPr txBox="1"/>
          <p:nvPr/>
        </p:nvSpPr>
        <p:spPr>
          <a:xfrm>
            <a:off x="713232" y="4572715"/>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60" b="0" dirty="0">
                <a:solidFill>
                  <a:srgbClr val="58626C"/>
                </a:solidFill>
                <a:latin typeface="맑은 고딕" pitchFamily="34" charset="0"/>
                <a:ea typeface="Malgun Gothic" pitchFamily="34" charset="-122"/>
                <a:cs typeface="Malgun Gothic" pitchFamily="34" charset="-120"/>
              </a:rPr>
              <a:t>→ 추가 : 필요시 좀더 자세히 실행계획을 세워도 좋습니다.</a:t>
            </a:r>
            <a:endParaRPr lang="en-US" sz="950" dirty="0"/>
          </a:p>
        </p:txBody>
      </p:sp>
      <p:sp>
        <p:nvSpPr>
          <p:cNvPr id="24" name="Text 21"/>
          <p:cNvSpPr txBox="1"/>
          <p:nvPr/>
        </p:nvSpPr>
        <p:spPr>
          <a:xfrm>
            <a:off x="457200" y="4807270"/>
            <a:ext cx="11173968" cy="27026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150" b="1" dirty="0">
                <a:solidFill>
                  <a:srgbClr val="27598E"/>
                </a:solidFill>
                <a:latin typeface="맑은 고딕" pitchFamily="34" charset="0"/>
                <a:ea typeface="Malgun Gothic" pitchFamily="34" charset="-122"/>
                <a:cs typeface="Malgun Gothic" pitchFamily="34" charset="-120"/>
              </a:rPr>
              <a:t>3) 다음 세션의 약속</a:t>
            </a:r>
            <a:endParaRPr lang="en-US" sz="1050" dirty="0"/>
          </a:p>
        </p:txBody>
      </p:sp>
      <p:sp>
        <p:nvSpPr>
          <p:cNvPr id="25" name="Text 22"/>
          <p:cNvSpPr txBox="1"/>
          <p:nvPr/>
        </p:nvSpPr>
        <p:spPr>
          <a:xfrm>
            <a:off x="713232" y="5094914"/>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(질문) 다음 세션은 언제, 몇시에 볼까요? (보기로 약속 했죠?)</a:t>
            </a:r>
            <a:endParaRPr lang="en-US" sz="1050" dirty="0"/>
          </a:p>
        </p:txBody>
      </p:sp>
      <p:sp>
        <p:nvSpPr>
          <p:cNvPr id="26" name="Text 23"/>
          <p:cNvSpPr txBox="1"/>
          <p:nvPr/>
        </p:nvSpPr>
        <p:spPr>
          <a:xfrm>
            <a:off x="713232" y="5329469"/>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050" b="0" dirty="0">
                <a:solidFill>
                  <a:srgbClr val="28303A"/>
                </a:solidFill>
                <a:latin typeface="맑은 고딕" pitchFamily="34" charset="0"/>
                <a:ea typeface="Malgun Gothic" pitchFamily="34" charset="-122"/>
                <a:cs typeface="Malgun Gothic" pitchFamily="34" charset="-120"/>
              </a:rPr>
              <a:t>(질문) 오늘 추가로 더 나누고 싶은 이야기 또는 궁금한 내용이 있는지요?</a:t>
            </a:r>
            <a:endParaRPr lang="en-US" sz="1050" dirty="0"/>
          </a:p>
        </p:txBody>
      </p:sp>
      <p:sp>
        <p:nvSpPr>
          <p:cNvPr id="27" name="Text 24"/>
          <p:cNvSpPr txBox="1"/>
          <p:nvPr/>
        </p:nvSpPr>
        <p:spPr>
          <a:xfrm>
            <a:off x="457200" y="5564024"/>
            <a:ext cx="11173968" cy="270269"/>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1150" b="1" dirty="0">
                <a:solidFill>
                  <a:srgbClr val="27598E"/>
                </a:solidFill>
                <a:latin typeface="맑은 고딕" pitchFamily="34" charset="0"/>
                <a:ea typeface="Malgun Gothic" pitchFamily="34" charset="-122"/>
                <a:cs typeface="Malgun Gothic" pitchFamily="34" charset="-120"/>
              </a:rPr>
              <a:t>4) 응원, 칭찬, 감사</a:t>
            </a:r>
            <a:endParaRPr lang="en-US" sz="1050" dirty="0"/>
          </a:p>
        </p:txBody>
      </p:sp>
      <p:sp>
        <p:nvSpPr>
          <p:cNvPr id="28" name="Text 25"/>
          <p:cNvSpPr txBox="1"/>
          <p:nvPr/>
        </p:nvSpPr>
        <p:spPr>
          <a:xfrm>
            <a:off x="713232" y="5851668"/>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80" b="0" dirty="0" err="1">
                <a:solidFill>
                  <a:srgbClr val="28303A"/>
                </a:solidFill>
                <a:latin typeface="맑은 고딕" pitchFamily="34" charset="0"/>
                <a:ea typeface="Malgun Gothic" pitchFamily="34" charset="-122"/>
                <a:cs typeface="Malgun Gothic" pitchFamily="34" charset="-120"/>
              </a:rPr>
              <a:t>오늘</a:t>
            </a:r>
            <a:r>
              <a:rPr lang="en-US" sz="980" b="0" dirty="0">
                <a:solidFill>
                  <a:srgbClr val="28303A"/>
                </a:solidFill>
                <a:latin typeface="맑은 고딕" pitchFamily="34" charset="0"/>
                <a:ea typeface="Malgun Gothic" pitchFamily="34" charset="-122"/>
                <a:cs typeface="Malgun Gothic" pitchFamily="34" charset="-120"/>
              </a:rPr>
              <a:t> </a:t>
            </a:r>
            <a:r>
              <a:rPr lang="ko-KR" altLang="en-US" sz="980" b="0" dirty="0">
                <a:solidFill>
                  <a:srgbClr val="28303A"/>
                </a:solidFill>
                <a:latin typeface="맑은 고딕" pitchFamily="34" charset="0"/>
                <a:ea typeface="Malgun Gothic" pitchFamily="34" charset="-122"/>
                <a:cs typeface="Malgun Gothic" pitchFamily="34" charset="-120"/>
              </a:rPr>
              <a:t>코칭에서</a:t>
            </a:r>
            <a:r>
              <a:rPr lang="en-US" sz="980" b="0" dirty="0">
                <a:solidFill>
                  <a:srgbClr val="28303A"/>
                </a:solidFill>
                <a:latin typeface="맑은 고딕" pitchFamily="34" charset="0"/>
                <a:ea typeface="Malgun Gothic" pitchFamily="34" charset="-122"/>
                <a:cs typeface="Malgun Gothic" pitchFamily="34" charset="-120"/>
              </a:rPr>
              <a:t> </a:t>
            </a:r>
            <a:r>
              <a:rPr lang="ko-KR" altLang="en-US" sz="980" b="0" dirty="0">
                <a:solidFill>
                  <a:srgbClr val="28303A"/>
                </a:solidFill>
                <a:latin typeface="맑은 고딕" pitchFamily="34" charset="0"/>
                <a:ea typeface="Malgun Gothic" pitchFamily="34" charset="-122"/>
                <a:cs typeface="Malgun Gothic" pitchFamily="34" charset="-120"/>
              </a:rPr>
              <a:t>학생이</a:t>
            </a:r>
            <a:r>
              <a:rPr lang="en-US" sz="980" b="0" dirty="0">
                <a:solidFill>
                  <a:srgbClr val="28303A"/>
                </a:solidFill>
                <a:latin typeface="맑은 고딕" pitchFamily="34" charset="0"/>
                <a:ea typeface="Malgun Gothic" pitchFamily="34" charset="-122"/>
                <a:cs typeface="Malgun Gothic" pitchFamily="34" charset="-120"/>
              </a:rPr>
              <a:t> 하기로 한 실천을 잘 이룰 수 있기를 응원하고,</a:t>
            </a:r>
            <a:endParaRPr lang="en-US" sz="1000" dirty="0"/>
          </a:p>
        </p:txBody>
      </p:sp>
      <p:sp>
        <p:nvSpPr>
          <p:cNvPr id="29" name="Text 26"/>
          <p:cNvSpPr txBox="1"/>
          <p:nvPr/>
        </p:nvSpPr>
        <p:spPr>
          <a:xfrm>
            <a:off x="713232" y="6086223"/>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ko-KR" altLang="en-US" sz="980" b="0" dirty="0">
                <a:solidFill>
                  <a:srgbClr val="28303A"/>
                </a:solidFill>
                <a:latin typeface="맑은 고딕" pitchFamily="34" charset="0"/>
                <a:ea typeface="Malgun Gothic" pitchFamily="34" charset="-122"/>
                <a:cs typeface="Malgun Gothic" pitchFamily="34" charset="-120"/>
              </a:rPr>
              <a:t>코칭</a:t>
            </a:r>
            <a:r>
              <a:rPr lang="en-US" sz="980" b="0" dirty="0">
                <a:solidFill>
                  <a:srgbClr val="28303A"/>
                </a:solidFill>
                <a:latin typeface="맑은 고딕" pitchFamily="34" charset="0"/>
                <a:ea typeface="Malgun Gothic" pitchFamily="34" charset="-122"/>
                <a:cs typeface="Malgun Gothic" pitchFamily="34" charset="-120"/>
              </a:rPr>
              <a:t> </a:t>
            </a:r>
            <a:r>
              <a:rPr lang="en-US" sz="980" b="0" dirty="0" err="1">
                <a:solidFill>
                  <a:srgbClr val="28303A"/>
                </a:solidFill>
                <a:latin typeface="맑은 고딕" pitchFamily="34" charset="0"/>
                <a:ea typeface="Malgun Gothic" pitchFamily="34" charset="-122"/>
                <a:cs typeface="Malgun Gothic" pitchFamily="34" charset="-120"/>
              </a:rPr>
              <a:t>과정에서</a:t>
            </a:r>
            <a:r>
              <a:rPr lang="en-US" sz="980" b="0" dirty="0">
                <a:solidFill>
                  <a:srgbClr val="28303A"/>
                </a:solidFill>
                <a:latin typeface="맑은 고딕" pitchFamily="34" charset="0"/>
                <a:ea typeface="Malgun Gothic" pitchFamily="34" charset="-122"/>
                <a:cs typeface="Malgun Gothic" pitchFamily="34" charset="-120"/>
              </a:rPr>
              <a:t> </a:t>
            </a:r>
            <a:r>
              <a:rPr lang="ko-KR" altLang="en-US" sz="980" b="0" dirty="0">
                <a:solidFill>
                  <a:srgbClr val="28303A"/>
                </a:solidFill>
                <a:latin typeface="맑은 고딕" pitchFamily="34" charset="0"/>
                <a:ea typeface="Malgun Gothic" pitchFamily="34" charset="-122"/>
                <a:cs typeface="Malgun Gothic" pitchFamily="34" charset="-120"/>
              </a:rPr>
              <a:t>학생이</a:t>
            </a:r>
            <a:r>
              <a:rPr lang="en-US" sz="980" b="0" dirty="0">
                <a:solidFill>
                  <a:srgbClr val="28303A"/>
                </a:solidFill>
                <a:latin typeface="맑은 고딕" pitchFamily="34" charset="0"/>
                <a:ea typeface="Malgun Gothic" pitchFamily="34" charset="-122"/>
                <a:cs typeface="Malgun Gothic" pitchFamily="34" charset="-120"/>
              </a:rPr>
              <a:t> 잘한 것, 애쓴 것을 인정 칭찬하고,</a:t>
            </a:r>
            <a:endParaRPr lang="en-US" sz="1000" dirty="0"/>
          </a:p>
        </p:txBody>
      </p:sp>
      <p:sp>
        <p:nvSpPr>
          <p:cNvPr id="30" name="Text 27"/>
          <p:cNvSpPr txBox="1"/>
          <p:nvPr/>
        </p:nvSpPr>
        <p:spPr>
          <a:xfrm>
            <a:off x="713232" y="6320779"/>
            <a:ext cx="10917936" cy="217180"/>
          </a:xfrm>
          <a:prstGeom prst="rect">
            <a:avLst/>
          </a:prstGeom>
          <a:noFill/>
          <a:ln/>
        </p:spPr>
        <p:txBody>
          <a:bodyPr wrap="square" lIns="9144" tIns="0" rIns="9144" bIns="0" rtlCol="0" anchor="ctr">
            <a:noAutofit/>
          </a:bodyPr>
          <a:lstStyle/>
          <a:p>
            <a:pPr marL="0" indent="0">
              <a:lnSpc>
                <a:spcPct val="100000"/>
              </a:lnSpc>
              <a:spcBef>
                <a:spcPts val="0"/>
              </a:spcBef>
              <a:spcAft>
                <a:spcPts val="0"/>
              </a:spcAft>
              <a:buNone/>
            </a:pPr>
            <a:r>
              <a:rPr lang="en-US" sz="980" b="0" dirty="0">
                <a:solidFill>
                  <a:srgbClr val="28303A"/>
                </a:solidFill>
                <a:latin typeface="맑은 고딕" pitchFamily="34" charset="0"/>
                <a:ea typeface="Malgun Gothic" pitchFamily="34" charset="-122"/>
                <a:cs typeface="Malgun Gothic" pitchFamily="34" charset="-120"/>
              </a:rPr>
              <a:t>함께 시간을 보낼 수 있어 감사한 마음을 전달하고 마무리합니다.</a:t>
            </a:r>
            <a:endParaRPr lang="en-US" sz="1000" dirty="0"/>
          </a:p>
        </p:txBody>
      </p:sp>
      <p:sp>
        <p:nvSpPr>
          <p:cNvPr id="34" name="Shape 5">
            <a:extLst>
              <a:ext uri="{FF2B5EF4-FFF2-40B4-BE49-F238E27FC236}">
                <a16:creationId xmlns:a16="http://schemas.microsoft.com/office/drawing/2014/main" id="{1E1A0137-4D0F-A328-7C95-FB444A2AD949}"/>
              </a:ext>
            </a:extLst>
          </p:cNvPr>
          <p:cNvSpPr/>
          <p:nvPr/>
        </p:nvSpPr>
        <p:spPr>
          <a:xfrm>
            <a:off x="457200" y="679704"/>
            <a:ext cx="5394960" cy="0"/>
          </a:xfrm>
          <a:prstGeom prst="line">
            <a:avLst/>
          </a:prstGeom>
          <a:noFill/>
          <a:ln w="12700">
            <a:solidFill>
              <a:srgbClr val="6386CC"/>
            </a:solidFill>
            <a:prstDash val="solid"/>
          </a:ln>
        </p:spPr>
        <p:txBody>
          <a:bodyPr/>
          <a:lstStyle/>
          <a:p>
            <a:endParaRPr/>
          </a:p>
        </p:txBody>
      </p:sp>
      <p:sp>
        <p:nvSpPr>
          <p:cNvPr id="2" name="Text 4">
            <a:extLst>
              <a:ext uri="{FF2B5EF4-FFF2-40B4-BE49-F238E27FC236}">
                <a16:creationId xmlns:a16="http://schemas.microsoft.com/office/drawing/2014/main" id="{3E56F0A2-DA8E-B7D7-1E22-064ED7262246}"/>
              </a:ext>
            </a:extLst>
          </p:cNvPr>
          <p:cNvSpPr txBox="1"/>
          <p:nvPr/>
        </p:nvSpPr>
        <p:spPr>
          <a:xfrm>
            <a:off x="457200" y="256032"/>
            <a:ext cx="11201400" cy="384048"/>
          </a:xfrm>
          <a:prstGeom prst="rect">
            <a:avLst/>
          </a:prstGeom>
          <a:noFill/>
          <a:ln/>
        </p:spPr>
        <p:txBody>
          <a:bodyPr wrap="square" lIns="18288" tIns="9144" rIns="18288" bIns="9144" rtlCol="0" anchor="ctr">
            <a:noAutofit/>
          </a:bodyPr>
          <a:lstStyle/>
          <a:p>
            <a:pPr marL="0" indent="0">
              <a:lnSpc>
                <a:spcPct val="100000"/>
              </a:lnSpc>
              <a:spcBef>
                <a:spcPts val="0"/>
              </a:spcBef>
              <a:spcAft>
                <a:spcPts val="0"/>
              </a:spcAft>
              <a:buNone/>
            </a:pPr>
            <a:r>
              <a:rPr lang="en-US" sz="1650" b="1" dirty="0">
                <a:solidFill>
                  <a:srgbClr val="27598E"/>
                </a:solidFill>
                <a:latin typeface="맑은 고딕" pitchFamily="34" charset="0"/>
                <a:ea typeface="Malgun Gothic" pitchFamily="34" charset="-122"/>
                <a:cs typeface="Malgun Gothic" pitchFamily="34" charset="-120"/>
              </a:rPr>
              <a:t>오늘의 </a:t>
            </a:r>
            <a:r>
              <a:rPr lang="en-US" sz="1650" b="1" dirty="0" err="1">
                <a:solidFill>
                  <a:srgbClr val="27598E"/>
                </a:solidFill>
                <a:latin typeface="맑은 고딕" pitchFamily="34" charset="0"/>
                <a:ea typeface="Malgun Gothic" pitchFamily="34" charset="-122"/>
                <a:cs typeface="Malgun Gothic" pitchFamily="34" charset="-120"/>
              </a:rPr>
              <a:t>주제</a:t>
            </a:r>
            <a:r>
              <a:rPr lang="en-US" sz="1650" b="1" dirty="0">
                <a:solidFill>
                  <a:srgbClr val="27598E"/>
                </a:solidFill>
                <a:latin typeface="맑은 고딕" pitchFamily="34" charset="0"/>
                <a:ea typeface="Malgun Gothic" pitchFamily="34" charset="-122"/>
                <a:cs typeface="Malgun Gothic" pitchFamily="34" charset="-120"/>
              </a:rPr>
              <a:t>  / </a:t>
            </a:r>
            <a:r>
              <a:rPr lang="en-US" sz="1650" b="1" dirty="0" err="1">
                <a:solidFill>
                  <a:srgbClr val="27598E"/>
                </a:solidFill>
                <a:latin typeface="맑은 고딕" pitchFamily="34" charset="0"/>
                <a:ea typeface="Malgun Gothic" pitchFamily="34" charset="-122"/>
                <a:cs typeface="Malgun Gothic" pitchFamily="34" charset="-120"/>
              </a:rPr>
              <a:t>가치</a:t>
            </a:r>
            <a:r>
              <a:rPr lang="en-US" sz="1650" b="1" dirty="0">
                <a:solidFill>
                  <a:srgbClr val="27598E"/>
                </a:solidFill>
                <a:latin typeface="맑은 고딕" pitchFamily="34" charset="0"/>
                <a:ea typeface="Malgun Gothic" pitchFamily="34" charset="-122"/>
                <a:cs typeface="Malgun Gothic" pitchFamily="34" charset="-120"/>
              </a:rPr>
              <a:t> </a:t>
            </a:r>
            <a:r>
              <a:rPr lang="en-US" sz="1650" b="1" dirty="0" err="1">
                <a:solidFill>
                  <a:srgbClr val="27598E"/>
                </a:solidFill>
                <a:latin typeface="맑은 고딕" pitchFamily="34" charset="0"/>
                <a:ea typeface="Malgun Gothic" pitchFamily="34" charset="-122"/>
                <a:cs typeface="Malgun Gothic" pitchFamily="34" charset="-120"/>
              </a:rPr>
              <a:t>찾기</a:t>
            </a:r>
            <a:r>
              <a:rPr lang="en-US" sz="1650" b="1" dirty="0">
                <a:solidFill>
                  <a:srgbClr val="27598E"/>
                </a:solidFill>
                <a:latin typeface="맑은 고딕" pitchFamily="34" charset="0"/>
                <a:ea typeface="Malgun Gothic" pitchFamily="34" charset="-122"/>
                <a:cs typeface="Malgun Gothic" pitchFamily="34" charset="-120"/>
              </a:rPr>
              <a:t> (Coach </a:t>
            </a:r>
            <a:r>
              <a:rPr lang="ko-KR" altLang="en-US" sz="1650" b="1" dirty="0">
                <a:solidFill>
                  <a:srgbClr val="27598E"/>
                </a:solidFill>
                <a:latin typeface="맑은 고딕" pitchFamily="34" charset="0"/>
                <a:ea typeface="Malgun Gothic" pitchFamily="34" charset="-122"/>
                <a:cs typeface="Malgun Gothic" pitchFamily="34" charset="-120"/>
              </a:rPr>
              <a:t>용</a:t>
            </a:r>
            <a:r>
              <a:rPr lang="en-US" sz="1650" b="1" dirty="0">
                <a:solidFill>
                  <a:srgbClr val="27598E"/>
                </a:solidFill>
                <a:latin typeface="맑은 고딕" pitchFamily="34" charset="0"/>
                <a:ea typeface="Malgun Gothic" pitchFamily="34" charset="-122"/>
                <a:cs typeface="Malgun Gothic" pitchFamily="34" charset="-120"/>
              </a:rPr>
              <a: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1131</Words>
  <Application>Microsoft Office PowerPoint</Application>
  <PresentationFormat>와이드스크린</PresentationFormat>
  <Paragraphs>297</Paragraphs>
  <Slides>5</Slides>
  <Notes>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vt:i4>
      </vt:variant>
    </vt:vector>
  </HeadingPairs>
  <TitlesOfParts>
    <vt:vector size="9" baseType="lpstr">
      <vt:lpstr>Malgun Gothic</vt:lpstr>
      <vt:lpstr>Malgun Gothic</vt:lpstr>
      <vt:lpstr>Arial</vt:lpstr>
      <vt:lpstr>Office Theme</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peter korea</cp:lastModifiedBy>
  <cp:revision>6</cp:revision>
  <dcterms:created xsi:type="dcterms:W3CDTF">2026-09-11T13:42:41Z</dcterms:created>
  <dcterms:modified xsi:type="dcterms:W3CDTF">2026-09-11T14:42:21Z</dcterms:modified>
</cp:coreProperties>
</file>